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layfair Displ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fairDisplay-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layfairDisplay-italic.fntdata"/><Relationship Id="rId6" Type="http://schemas.openxmlformats.org/officeDocument/2006/relationships/slide" Target="slides/slide1.xml"/><Relationship Id="rId18" Type="http://schemas.openxmlformats.org/officeDocument/2006/relationships/font" Target="fonts/PlayfairDisplay-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c65d5b4b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c65d5b4b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9c65d5b4b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9c65d5b4b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c65d5b4b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c65d5b4b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c65d5b4b3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c65d5b4b3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c65d5b4b3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c65d5b4b3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c65d5b4b3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9c65d5b4b3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c65d5b4b3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c65d5b4b3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c65d5b4b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c65d5b4b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c65d5b4b3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c65d5b4b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c65d5b4b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c65d5b4b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58950" y="2060550"/>
            <a:ext cx="3026100" cy="102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sz="5000"/>
              <a:t>Práctica 1</a:t>
            </a:r>
            <a:endParaRPr sz="4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Mapa mental</a:t>
            </a:r>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6" name="Google Shape;66;p14" title="MapaMental.png"/>
          <p:cNvPicPr preferRelativeResize="0"/>
          <p:nvPr/>
        </p:nvPicPr>
        <p:blipFill>
          <a:blip r:embed="rId3">
            <a:alphaModFix/>
          </a:blip>
          <a:stretch>
            <a:fillRect/>
          </a:stretch>
        </p:blipFill>
        <p:spPr>
          <a:xfrm>
            <a:off x="0" y="961921"/>
            <a:ext cx="9144003" cy="33709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3580"/>
              <a:t>Descripción del proyecto: iCancha</a:t>
            </a:r>
            <a:endParaRPr sz="3580"/>
          </a:p>
        </p:txBody>
      </p:sp>
      <p:sp>
        <p:nvSpPr>
          <p:cNvPr id="72" name="Google Shape;72;p15"/>
          <p:cNvSpPr txBox="1"/>
          <p:nvPr>
            <p:ph idx="1" type="body"/>
          </p:nvPr>
        </p:nvSpPr>
        <p:spPr>
          <a:xfrm>
            <a:off x="311700" y="1378700"/>
            <a:ext cx="8520600" cy="2903700"/>
          </a:xfrm>
          <a:prstGeom prst="rect">
            <a:avLst/>
          </a:prstGeom>
        </p:spPr>
        <p:txBody>
          <a:bodyPr anchorCtr="0" anchor="t" bIns="91425" lIns="91425" spcFirstLastPara="1" rIns="91425" wrap="square" tIns="91425">
            <a:normAutofit fontScale="92500" lnSpcReduction="20000"/>
          </a:bodyPr>
          <a:lstStyle/>
          <a:p>
            <a:pPr indent="0" lvl="0" marL="0" rtl="0" algn="just">
              <a:lnSpc>
                <a:spcPct val="100000"/>
              </a:lnSpc>
              <a:spcBef>
                <a:spcPts val="0"/>
              </a:spcBef>
              <a:spcAft>
                <a:spcPts val="0"/>
              </a:spcAft>
              <a:buNone/>
            </a:pPr>
            <a:r>
              <a:t/>
            </a:r>
            <a:endParaRPr sz="20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None/>
            </a:pPr>
            <a:r>
              <a:rPr lang="en-GB" sz="3508">
                <a:solidFill>
                  <a:srgbClr val="000000"/>
                </a:solidFill>
                <a:latin typeface="Times New Roman"/>
                <a:ea typeface="Times New Roman"/>
                <a:cs typeface="Times New Roman"/>
                <a:sym typeface="Times New Roman"/>
              </a:rPr>
              <a:t>El proyecto a desarrollar se llama iCancha. Trata el problema de las personas que deseen practicar deporte en grupo pero no pueden por falta de personas en su círculo cercano, desconocimiento de la forma de practicarlo, etc.</a:t>
            </a:r>
            <a:endParaRPr sz="3508">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sz="3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241425"/>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Canvas</a:t>
            </a:r>
            <a:endParaRPr/>
          </a:p>
        </p:txBody>
      </p:sp>
      <p:pic>
        <p:nvPicPr>
          <p:cNvPr id="78" name="Google Shape;78;p16"/>
          <p:cNvPicPr preferRelativeResize="0"/>
          <p:nvPr/>
        </p:nvPicPr>
        <p:blipFill>
          <a:blip r:embed="rId3">
            <a:alphaModFix/>
          </a:blip>
          <a:stretch>
            <a:fillRect/>
          </a:stretch>
        </p:blipFill>
        <p:spPr>
          <a:xfrm>
            <a:off x="1690688" y="971225"/>
            <a:ext cx="5762625" cy="3895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Problemas a resolver</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GB" sz="2800"/>
              <a:t>Dificultad para realizar deporte con m</a:t>
            </a:r>
            <a:r>
              <a:rPr lang="en-GB" sz="2800"/>
              <a:t>ás personas</a:t>
            </a:r>
            <a:endParaRPr sz="2800"/>
          </a:p>
          <a:p>
            <a:pPr indent="-406400" lvl="0" marL="457200" rtl="0" algn="l">
              <a:spcBef>
                <a:spcPts val="0"/>
              </a:spcBef>
              <a:spcAft>
                <a:spcPts val="0"/>
              </a:spcAft>
              <a:buSzPts val="2800"/>
              <a:buChar char="-"/>
            </a:pPr>
            <a:r>
              <a:rPr lang="en-GB" sz="2800"/>
              <a:t>Desconocimiento de espacios deportivos</a:t>
            </a:r>
            <a:endParaRPr sz="2800"/>
          </a:p>
          <a:p>
            <a:pPr indent="-406400" lvl="0" marL="457200" rtl="0" algn="l">
              <a:spcBef>
                <a:spcPts val="0"/>
              </a:spcBef>
              <a:spcAft>
                <a:spcPts val="0"/>
              </a:spcAft>
              <a:buSzPts val="2800"/>
              <a:buChar char="-"/>
            </a:pPr>
            <a:r>
              <a:rPr lang="en-GB" sz="2800"/>
              <a:t>Información deportiva descentralizada</a:t>
            </a:r>
            <a:endParaRPr sz="2800"/>
          </a:p>
          <a:p>
            <a:pPr indent="-406400" lvl="0" marL="457200" rtl="0" algn="l">
              <a:spcBef>
                <a:spcPts val="0"/>
              </a:spcBef>
              <a:spcAft>
                <a:spcPts val="0"/>
              </a:spcAft>
              <a:buSzPts val="2800"/>
              <a:buChar char="-"/>
            </a:pPr>
            <a:r>
              <a:rPr lang="en-GB" sz="2800"/>
              <a:t>Nivel de rendimiento deportivo mal equilibrado en un mismo grupo</a:t>
            </a:r>
            <a:endParaRPr sz="2800"/>
          </a:p>
          <a:p>
            <a:pPr indent="-406400" lvl="0" marL="457200" rtl="0" algn="l">
              <a:spcBef>
                <a:spcPts val="0"/>
              </a:spcBef>
              <a:spcAft>
                <a:spcPts val="0"/>
              </a:spcAft>
              <a:buSzPts val="2800"/>
              <a:buChar char="-"/>
            </a:pPr>
            <a:r>
              <a:rPr lang="en-GB" sz="2800"/>
              <a:t>Dificultad del usuario para realizar deportes nuevos</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Motivaciones</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44500" lvl="0" marL="457200" rtl="0" algn="l">
              <a:spcBef>
                <a:spcPts val="0"/>
              </a:spcBef>
              <a:spcAft>
                <a:spcPts val="0"/>
              </a:spcAft>
              <a:buSzPts val="3400"/>
              <a:buChar char="-"/>
            </a:pPr>
            <a:r>
              <a:rPr lang="en-GB" sz="3400"/>
              <a:t>Conocer gente para realizar deporte</a:t>
            </a:r>
            <a:endParaRPr sz="3400"/>
          </a:p>
          <a:p>
            <a:pPr indent="-444500" lvl="0" marL="457200" rtl="0" algn="l">
              <a:spcBef>
                <a:spcPts val="0"/>
              </a:spcBef>
              <a:spcAft>
                <a:spcPts val="0"/>
              </a:spcAft>
              <a:buSzPts val="3400"/>
              <a:buChar char="-"/>
            </a:pPr>
            <a:r>
              <a:rPr lang="en-GB" sz="3400"/>
              <a:t>Posibilidad de realizar nuevos de deportes</a:t>
            </a:r>
            <a:endParaRPr sz="3400"/>
          </a:p>
          <a:p>
            <a:pPr indent="-444500" lvl="0" marL="457200" rtl="0" algn="l">
              <a:spcBef>
                <a:spcPts val="0"/>
              </a:spcBef>
              <a:spcAft>
                <a:spcPts val="0"/>
              </a:spcAft>
              <a:buSzPts val="3400"/>
              <a:buChar char="-"/>
            </a:pPr>
            <a:r>
              <a:rPr lang="en-GB" sz="3400"/>
              <a:t>Evitar falta de participantes en un encuentro</a:t>
            </a:r>
            <a:endParaRPr sz="3400"/>
          </a:p>
          <a:p>
            <a:pPr indent="-444500" lvl="0" marL="457200" rtl="0" algn="l">
              <a:spcBef>
                <a:spcPts val="0"/>
              </a:spcBef>
              <a:spcAft>
                <a:spcPts val="0"/>
              </a:spcAft>
              <a:buSzPts val="3400"/>
              <a:buChar char="-"/>
            </a:pPr>
            <a:r>
              <a:rPr lang="en-GB" sz="3400"/>
              <a:t>Conocer nuevos lugares deportivos</a:t>
            </a:r>
            <a:endParaRPr sz="3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Riesgos y temores</a:t>
            </a:r>
            <a:endParaRPr/>
          </a:p>
        </p:txBody>
      </p:sp>
      <p:sp>
        <p:nvSpPr>
          <p:cNvPr id="96" name="Google Shape;96;p19"/>
          <p:cNvSpPr txBox="1"/>
          <p:nvPr>
            <p:ph idx="1" type="body"/>
          </p:nvPr>
        </p:nvSpPr>
        <p:spPr>
          <a:xfrm>
            <a:off x="311700" y="1612675"/>
            <a:ext cx="8520600" cy="2610300"/>
          </a:xfrm>
          <a:prstGeom prst="rect">
            <a:avLst/>
          </a:prstGeom>
        </p:spPr>
        <p:txBody>
          <a:bodyPr anchorCtr="0" anchor="t" bIns="91425" lIns="91425" spcFirstLastPara="1" rIns="91425" wrap="square" tIns="91425">
            <a:normAutofit/>
          </a:bodyPr>
          <a:lstStyle/>
          <a:p>
            <a:pPr indent="-431800" lvl="0" marL="457200" rtl="0" algn="l">
              <a:spcBef>
                <a:spcPts val="0"/>
              </a:spcBef>
              <a:spcAft>
                <a:spcPts val="0"/>
              </a:spcAft>
              <a:buSzPts val="3200"/>
              <a:buChar char="-"/>
            </a:pPr>
            <a:r>
              <a:rPr lang="en-GB" sz="3200"/>
              <a:t>Falta de actividad en la app</a:t>
            </a:r>
            <a:endParaRPr sz="3200"/>
          </a:p>
          <a:p>
            <a:pPr indent="-431800" lvl="0" marL="457200" rtl="0" algn="l">
              <a:spcBef>
                <a:spcPts val="0"/>
              </a:spcBef>
              <a:spcAft>
                <a:spcPts val="0"/>
              </a:spcAft>
              <a:buSzPts val="3200"/>
              <a:buChar char="-"/>
            </a:pPr>
            <a:r>
              <a:rPr lang="en-GB" sz="3200"/>
              <a:t>No se asegura la disponibilidad de las zonas deportivas</a:t>
            </a:r>
            <a:endParaRPr sz="3200"/>
          </a:p>
          <a:p>
            <a:pPr indent="-431800" lvl="0" marL="457200" rtl="0" algn="l">
              <a:spcBef>
                <a:spcPts val="0"/>
              </a:spcBef>
              <a:spcAft>
                <a:spcPts val="0"/>
              </a:spcAft>
              <a:buSzPts val="3200"/>
              <a:buChar char="-"/>
            </a:pPr>
            <a:r>
              <a:rPr lang="en-GB" sz="3200"/>
              <a:t>Falta de asistencia de alg</a:t>
            </a:r>
            <a:r>
              <a:rPr lang="en-GB" sz="3200"/>
              <a:t>ún participante</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Soluciones</a:t>
            </a:r>
            <a:endParaRPr/>
          </a:p>
        </p:txBody>
      </p:sp>
      <p:sp>
        <p:nvSpPr>
          <p:cNvPr id="102" name="Google Shape;10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19100" lvl="0" marL="457200" rtl="0" algn="l">
              <a:spcBef>
                <a:spcPts val="0"/>
              </a:spcBef>
              <a:spcAft>
                <a:spcPts val="0"/>
              </a:spcAft>
              <a:buSzPts val="3000"/>
              <a:buChar char="-"/>
            </a:pPr>
            <a:r>
              <a:rPr lang="en-GB" sz="3000"/>
              <a:t>Creaci</a:t>
            </a:r>
            <a:r>
              <a:rPr lang="en-GB" sz="3000"/>
              <a:t>ón de un canal para comunicaciones entre personas que realizan el mismo deporte</a:t>
            </a:r>
            <a:endParaRPr sz="3000"/>
          </a:p>
          <a:p>
            <a:pPr indent="-419100" lvl="0" marL="457200" rtl="0" algn="l">
              <a:spcBef>
                <a:spcPts val="0"/>
              </a:spcBef>
              <a:spcAft>
                <a:spcPts val="0"/>
              </a:spcAft>
              <a:buSzPts val="3000"/>
              <a:buChar char="-"/>
            </a:pPr>
            <a:r>
              <a:rPr lang="en-GB" sz="3000"/>
              <a:t>Dar visibilidad a nuevos espacios deportivos</a:t>
            </a:r>
            <a:endParaRPr sz="3000"/>
          </a:p>
          <a:p>
            <a:pPr indent="-419100" lvl="0" marL="457200" rtl="0" algn="l">
              <a:spcBef>
                <a:spcPts val="0"/>
              </a:spcBef>
              <a:spcAft>
                <a:spcPts val="0"/>
              </a:spcAft>
              <a:buSzPts val="3000"/>
              <a:buChar char="-"/>
            </a:pPr>
            <a:r>
              <a:rPr lang="en-GB" sz="3000"/>
              <a:t>Recolección de información deportiva</a:t>
            </a:r>
            <a:endParaRPr sz="3000"/>
          </a:p>
          <a:p>
            <a:pPr indent="-419100" lvl="0" marL="457200" rtl="0" algn="l">
              <a:spcBef>
                <a:spcPts val="0"/>
              </a:spcBef>
              <a:spcAft>
                <a:spcPts val="0"/>
              </a:spcAft>
              <a:buSzPts val="3000"/>
              <a:buChar char="-"/>
            </a:pPr>
            <a:r>
              <a:rPr lang="en-GB" sz="3000"/>
              <a:t>Igualar el nivel deportivo en las quedadas</a:t>
            </a:r>
            <a:endParaRPr sz="3000"/>
          </a:p>
          <a:p>
            <a:pPr indent="-419100" lvl="0" marL="457200" rtl="0" algn="l">
              <a:spcBef>
                <a:spcPts val="0"/>
              </a:spcBef>
              <a:spcAft>
                <a:spcPts val="0"/>
              </a:spcAft>
              <a:buSzPts val="3000"/>
              <a:buChar char="-"/>
            </a:pPr>
            <a:r>
              <a:rPr lang="en-GB" sz="3000"/>
              <a:t>Pestaña de deportes nuevos recomendados</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Alternativas</a:t>
            </a:r>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06400" lvl="0" marL="457200" rtl="0" algn="l">
              <a:lnSpc>
                <a:spcPct val="100000"/>
              </a:lnSpc>
              <a:spcBef>
                <a:spcPts val="0"/>
              </a:spcBef>
              <a:spcAft>
                <a:spcPts val="0"/>
              </a:spcAft>
              <a:buClr>
                <a:srgbClr val="000000"/>
              </a:buClr>
              <a:buSzPts val="2800"/>
              <a:buFont typeface="Arial"/>
              <a:buChar char="-"/>
            </a:pPr>
            <a:r>
              <a:rPr lang="en-GB" sz="2800">
                <a:solidFill>
                  <a:srgbClr val="000000"/>
                </a:solidFill>
                <a:latin typeface="Arial"/>
                <a:ea typeface="Arial"/>
                <a:cs typeface="Arial"/>
                <a:sym typeface="Arial"/>
              </a:rPr>
              <a:t>Existen redes sociales por las cuales te puedes comunicar con otras personas, pero no hay una que </a:t>
            </a:r>
            <a:r>
              <a:rPr lang="en-GB" sz="2800">
                <a:solidFill>
                  <a:srgbClr val="000000"/>
                </a:solidFill>
                <a:latin typeface="Arial"/>
                <a:ea typeface="Arial"/>
                <a:cs typeface="Arial"/>
                <a:sym typeface="Arial"/>
              </a:rPr>
              <a:t>esté</a:t>
            </a:r>
            <a:r>
              <a:rPr lang="en-GB" sz="2800">
                <a:solidFill>
                  <a:srgbClr val="000000"/>
                </a:solidFill>
                <a:latin typeface="Arial"/>
                <a:ea typeface="Arial"/>
                <a:cs typeface="Arial"/>
                <a:sym typeface="Arial"/>
              </a:rPr>
              <a:t> </a:t>
            </a:r>
            <a:r>
              <a:rPr lang="en-GB" sz="2800">
                <a:solidFill>
                  <a:srgbClr val="000000"/>
                </a:solidFill>
                <a:latin typeface="Arial"/>
                <a:ea typeface="Arial"/>
                <a:cs typeface="Arial"/>
                <a:sym typeface="Arial"/>
              </a:rPr>
              <a:t>específicamente</a:t>
            </a:r>
            <a:r>
              <a:rPr lang="en-GB" sz="2800">
                <a:solidFill>
                  <a:srgbClr val="000000"/>
                </a:solidFill>
                <a:latin typeface="Arial"/>
                <a:ea typeface="Arial"/>
                <a:cs typeface="Arial"/>
                <a:sym typeface="Arial"/>
              </a:rPr>
              <a:t> diseñada para realizar actividades deportivas</a:t>
            </a:r>
            <a:endParaRPr sz="28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Ventaja competitiva</a:t>
            </a:r>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419100" lvl="0" marL="457200" rtl="0" algn="l">
              <a:lnSpc>
                <a:spcPct val="100000"/>
              </a:lnSpc>
              <a:spcBef>
                <a:spcPts val="0"/>
              </a:spcBef>
              <a:spcAft>
                <a:spcPts val="0"/>
              </a:spcAft>
              <a:buClr>
                <a:srgbClr val="000000"/>
              </a:buClr>
              <a:buSzPts val="3000"/>
              <a:buFont typeface="Arial"/>
              <a:buChar char="-"/>
            </a:pPr>
            <a:r>
              <a:rPr lang="en-GB" sz="3000">
                <a:solidFill>
                  <a:srgbClr val="000000"/>
                </a:solidFill>
                <a:latin typeface="Arial"/>
                <a:ea typeface="Arial"/>
                <a:cs typeface="Arial"/>
                <a:sym typeface="Arial"/>
              </a:rPr>
              <a:t>Exclusivamente diseñada para actividades deportivas</a:t>
            </a:r>
            <a:endParaRPr sz="3000">
              <a:solidFill>
                <a:srgbClr val="000000"/>
              </a:solidFill>
              <a:latin typeface="Arial"/>
              <a:ea typeface="Arial"/>
              <a:cs typeface="Arial"/>
              <a:sym typeface="Arial"/>
            </a:endParaRPr>
          </a:p>
          <a:p>
            <a:pPr indent="-419100" lvl="0" marL="457200" rtl="0" algn="l">
              <a:lnSpc>
                <a:spcPct val="100000"/>
              </a:lnSpc>
              <a:spcBef>
                <a:spcPts val="0"/>
              </a:spcBef>
              <a:spcAft>
                <a:spcPts val="0"/>
              </a:spcAft>
              <a:buClr>
                <a:srgbClr val="000000"/>
              </a:buClr>
              <a:buSzPts val="3000"/>
              <a:buFont typeface="Arial"/>
              <a:buChar char="-"/>
            </a:pPr>
            <a:r>
              <a:rPr lang="en-GB" sz="3000">
                <a:solidFill>
                  <a:srgbClr val="000000"/>
                </a:solidFill>
                <a:latin typeface="Arial"/>
                <a:ea typeface="Arial"/>
                <a:cs typeface="Arial"/>
                <a:sym typeface="Arial"/>
              </a:rPr>
              <a:t>Ofrece una mejor organización para este tipo de eventos</a:t>
            </a:r>
            <a:endParaRPr sz="3000">
              <a:solidFill>
                <a:srgbClr val="000000"/>
              </a:solidFill>
              <a:latin typeface="Arial"/>
              <a:ea typeface="Arial"/>
              <a:cs typeface="Arial"/>
              <a:sym typeface="Arial"/>
            </a:endParaRPr>
          </a:p>
          <a:p>
            <a:pPr indent="-419100" lvl="0" marL="457200" rtl="0" algn="l">
              <a:lnSpc>
                <a:spcPct val="100000"/>
              </a:lnSpc>
              <a:spcBef>
                <a:spcPts val="0"/>
              </a:spcBef>
              <a:spcAft>
                <a:spcPts val="0"/>
              </a:spcAft>
              <a:buClr>
                <a:srgbClr val="000000"/>
              </a:buClr>
              <a:buSzPts val="3000"/>
              <a:buFont typeface="Arial"/>
              <a:buChar char="-"/>
            </a:pPr>
            <a:r>
              <a:rPr lang="en-GB" sz="3000">
                <a:solidFill>
                  <a:srgbClr val="000000"/>
                </a:solidFill>
                <a:latin typeface="Arial"/>
                <a:ea typeface="Arial"/>
                <a:cs typeface="Arial"/>
                <a:sym typeface="Arial"/>
              </a:rPr>
              <a:t>Cuenta con una interfaz dedicada a la creación y organización de quedadas deportivas</a:t>
            </a:r>
            <a:endParaRPr sz="30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Propuesta de valor</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419100" lvl="0" marL="457200" rtl="0" algn="l">
              <a:lnSpc>
                <a:spcPct val="100000"/>
              </a:lnSpc>
              <a:spcBef>
                <a:spcPts val="0"/>
              </a:spcBef>
              <a:spcAft>
                <a:spcPts val="0"/>
              </a:spcAft>
              <a:buClr>
                <a:srgbClr val="000000"/>
              </a:buClr>
              <a:buSzPts val="3000"/>
              <a:buFont typeface="Arial"/>
              <a:buChar char="-"/>
            </a:pPr>
            <a:r>
              <a:rPr lang="en-GB" sz="3000">
                <a:solidFill>
                  <a:srgbClr val="000000"/>
                </a:solidFill>
                <a:latin typeface="Arial"/>
                <a:ea typeface="Arial"/>
                <a:cs typeface="Arial"/>
                <a:sym typeface="Arial"/>
              </a:rPr>
              <a:t>Facilita la realización del deporte independientemente del lugar</a:t>
            </a:r>
            <a:endParaRPr sz="30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t/>
            </a:r>
            <a:endParaRPr sz="14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