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a6bf21b757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a6bf21b757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a6bf21b75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a6bf21b75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a6bf21b757_2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a6bf21b757_2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3a6bf21b75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3a6bf21b75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a6bf21b75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a6bf21b75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a6bf21b757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a6bf21b757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a6bf21b757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a6bf21b757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a6bf21b757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a6bf21b757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a6bf21b757_1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a6bf21b757_1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a6bf21b757_1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a6bf21b757_1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a6bf21b757_1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a6bf21b757_1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a6bf21b757_1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a6bf21b757_1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a6bf21b757_4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a6bf21b757_4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a6bf21b757_4_9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a6bf21b757_4_9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1.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1.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7.png"/><Relationship Id="rId7" Type="http://schemas.openxmlformats.org/officeDocument/2006/relationships/image" Target="../media/image10.png"/><Relationship Id="rId8"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826650"/>
            <a:ext cx="8520600" cy="2052600"/>
          </a:xfrm>
          <a:prstGeom prst="rect">
            <a:avLst/>
          </a:prstGeom>
          <a:effectLst>
            <a:outerShdw blurRad="57150" rotWithShape="0" algn="bl" dir="5400000" dist="19050">
              <a:srgbClr val="000000">
                <a:alpha val="50000"/>
              </a:srgbClr>
            </a:outerShdw>
          </a:effectLst>
        </p:spPr>
        <p:txBody>
          <a:bodyPr anchorCtr="0" anchor="b" bIns="91425" lIns="91425" spcFirstLastPara="1" rIns="91425" wrap="square" tIns="91425">
            <a:normAutofit/>
          </a:bodyPr>
          <a:lstStyle/>
          <a:p>
            <a:pPr indent="0" lvl="0" marL="0" rtl="0" algn="ctr">
              <a:spcBef>
                <a:spcPts val="0"/>
              </a:spcBef>
              <a:spcAft>
                <a:spcPts val="0"/>
              </a:spcAft>
              <a:buNone/>
            </a:pPr>
            <a:r>
              <a:rPr lang="es" sz="6300">
                <a:latin typeface="Times New Roman"/>
                <a:ea typeface="Times New Roman"/>
                <a:cs typeface="Times New Roman"/>
                <a:sym typeface="Times New Roman"/>
              </a:rPr>
              <a:t>ICancha</a:t>
            </a:r>
            <a:endParaRPr sz="6300">
              <a:latin typeface="Times New Roman"/>
              <a:ea typeface="Times New Roman"/>
              <a:cs typeface="Times New Roman"/>
              <a:sym typeface="Times New Roman"/>
            </a:endParaRPr>
          </a:p>
        </p:txBody>
      </p:sp>
      <p:sp>
        <p:nvSpPr>
          <p:cNvPr id="55" name="Google Shape;55;p13"/>
          <p:cNvSpPr txBox="1"/>
          <p:nvPr>
            <p:ph idx="1" type="subTitle"/>
          </p:nvPr>
        </p:nvSpPr>
        <p:spPr>
          <a:xfrm>
            <a:off x="311700" y="3107725"/>
            <a:ext cx="8520600" cy="1113000"/>
          </a:xfrm>
          <a:prstGeom prst="rect">
            <a:avLst/>
          </a:prstGeom>
        </p:spPr>
        <p:txBody>
          <a:bodyPr anchorCtr="0" anchor="t" bIns="91425" lIns="91425" spcFirstLastPara="1" rIns="91425" wrap="square" tIns="91425">
            <a:normAutofit fontScale="62500" lnSpcReduction="20000"/>
          </a:bodyPr>
          <a:lstStyle/>
          <a:p>
            <a:pPr indent="0" lvl="0" marL="0" rtl="0" algn="ctr">
              <a:spcBef>
                <a:spcPts val="0"/>
              </a:spcBef>
              <a:spcAft>
                <a:spcPts val="0"/>
              </a:spcAft>
              <a:buNone/>
            </a:pPr>
            <a:r>
              <a:rPr b="1" lang="es">
                <a:latin typeface="Times New Roman"/>
                <a:ea typeface="Times New Roman"/>
                <a:cs typeface="Times New Roman"/>
                <a:sym typeface="Times New Roman"/>
              </a:rPr>
              <a:t>Grupo 1.2</a:t>
            </a:r>
            <a:endParaRPr b="1">
              <a:latin typeface="Times New Roman"/>
              <a:ea typeface="Times New Roman"/>
              <a:cs typeface="Times New Roman"/>
              <a:sym typeface="Times New Roman"/>
            </a:endParaRPr>
          </a:p>
          <a:p>
            <a:pPr indent="0" lvl="0" marL="0" rtl="0" algn="ctr">
              <a:spcBef>
                <a:spcPts val="0"/>
              </a:spcBef>
              <a:spcAft>
                <a:spcPts val="0"/>
              </a:spcAft>
              <a:buNone/>
            </a:pPr>
            <a:r>
              <a:rPr i="1" lang="es">
                <a:latin typeface="Times New Roman"/>
                <a:ea typeface="Times New Roman"/>
                <a:cs typeface="Times New Roman"/>
                <a:sym typeface="Times New Roman"/>
              </a:rPr>
              <a:t>Teodosio Donaire González</a:t>
            </a:r>
            <a:endParaRPr i="1">
              <a:latin typeface="Times New Roman"/>
              <a:ea typeface="Times New Roman"/>
              <a:cs typeface="Times New Roman"/>
              <a:sym typeface="Times New Roman"/>
            </a:endParaRPr>
          </a:p>
          <a:p>
            <a:pPr indent="0" lvl="0" marL="0" rtl="0" algn="ctr">
              <a:spcBef>
                <a:spcPts val="0"/>
              </a:spcBef>
              <a:spcAft>
                <a:spcPts val="0"/>
              </a:spcAft>
              <a:buNone/>
            </a:pPr>
            <a:r>
              <a:rPr i="1" lang="es">
                <a:latin typeface="Times New Roman"/>
                <a:ea typeface="Times New Roman"/>
                <a:cs typeface="Times New Roman"/>
                <a:sym typeface="Times New Roman"/>
              </a:rPr>
              <a:t>Mario Bosque Avelleira</a:t>
            </a:r>
            <a:endParaRPr i="1">
              <a:latin typeface="Times New Roman"/>
              <a:ea typeface="Times New Roman"/>
              <a:cs typeface="Times New Roman"/>
              <a:sym typeface="Times New Roman"/>
            </a:endParaRPr>
          </a:p>
          <a:p>
            <a:pPr indent="0" lvl="0" marL="0" rtl="0" algn="ctr">
              <a:spcBef>
                <a:spcPts val="0"/>
              </a:spcBef>
              <a:spcAft>
                <a:spcPts val="0"/>
              </a:spcAft>
              <a:buNone/>
            </a:pPr>
            <a:r>
              <a:rPr i="1" lang="es">
                <a:latin typeface="Times New Roman"/>
                <a:ea typeface="Times New Roman"/>
                <a:cs typeface="Times New Roman"/>
                <a:sym typeface="Times New Roman"/>
              </a:rPr>
              <a:t>Francisco de </a:t>
            </a:r>
            <a:r>
              <a:rPr i="1" lang="es">
                <a:latin typeface="Times New Roman"/>
                <a:ea typeface="Times New Roman"/>
                <a:cs typeface="Times New Roman"/>
                <a:sym typeface="Times New Roman"/>
              </a:rPr>
              <a:t>Asís</a:t>
            </a:r>
            <a:r>
              <a:rPr i="1" lang="es">
                <a:latin typeface="Times New Roman"/>
                <a:ea typeface="Times New Roman"/>
                <a:cs typeface="Times New Roman"/>
                <a:sym typeface="Times New Roman"/>
              </a:rPr>
              <a:t> Carrasco Conde</a:t>
            </a:r>
            <a:endParaRPr i="1">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 name="Shape 59"/>
        <p:cNvGrpSpPr/>
        <p:nvPr/>
      </p:nvGrpSpPr>
      <p:grpSpPr>
        <a:xfrm>
          <a:off x="0" y="0"/>
          <a:ext cx="0" cy="0"/>
          <a:chOff x="0" y="0"/>
          <a:chExt cx="0" cy="0"/>
        </a:xfrm>
      </p:grpSpPr>
      <p:sp>
        <p:nvSpPr>
          <p:cNvPr id="60" name="Google Shape;60;p14"/>
          <p:cNvSpPr txBox="1"/>
          <p:nvPr>
            <p:ph type="title"/>
          </p:nvPr>
        </p:nvSpPr>
        <p:spPr>
          <a:xfrm>
            <a:off x="311700" y="987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Times New Roman"/>
                <a:ea typeface="Times New Roman"/>
                <a:cs typeface="Times New Roman"/>
                <a:sym typeface="Times New Roman"/>
              </a:rPr>
              <a:t>Introducción</a:t>
            </a:r>
            <a:endParaRPr b="1">
              <a:latin typeface="Times New Roman"/>
              <a:ea typeface="Times New Roman"/>
              <a:cs typeface="Times New Roman"/>
              <a:sym typeface="Times New Roman"/>
            </a:endParaRPr>
          </a:p>
        </p:txBody>
      </p:sp>
      <p:sp>
        <p:nvSpPr>
          <p:cNvPr id="61" name="Google Shape;61;p14"/>
          <p:cNvSpPr txBox="1"/>
          <p:nvPr>
            <p:ph idx="1" type="body"/>
          </p:nvPr>
        </p:nvSpPr>
        <p:spPr>
          <a:xfrm>
            <a:off x="311700" y="2034325"/>
            <a:ext cx="8520600" cy="2534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latin typeface="Times New Roman"/>
                <a:ea typeface="Times New Roman"/>
                <a:cs typeface="Times New Roman"/>
                <a:sym typeface="Times New Roman"/>
              </a:rPr>
              <a:t>Se trata de una aplicación móvil diseñada para facilitar que personas interesadas en practicar deporte en grupo puedan encontrar compañeros y organizar actividades deportivas informales. El producto trata el problema de la falta de participantes, la dificultad para coincidir en horarios y el desconocimiento de lugares o grupos disponibles para jugar.</a:t>
            </a:r>
            <a:endParaRPr>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5" name="Shape 65"/>
        <p:cNvGrpSpPr/>
        <p:nvPr/>
      </p:nvGrpSpPr>
      <p:grpSpPr>
        <a:xfrm>
          <a:off x="0" y="0"/>
          <a:ext cx="0" cy="0"/>
          <a:chOff x="0" y="0"/>
          <a:chExt cx="0" cy="0"/>
        </a:xfrm>
      </p:grpSpPr>
      <p:sp>
        <p:nvSpPr>
          <p:cNvPr id="66" name="Google Shape;66;p15"/>
          <p:cNvSpPr txBox="1"/>
          <p:nvPr>
            <p:ph type="title"/>
          </p:nvPr>
        </p:nvSpPr>
        <p:spPr>
          <a:xfrm>
            <a:off x="311700" y="9870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Times New Roman"/>
                <a:ea typeface="Times New Roman"/>
                <a:cs typeface="Times New Roman"/>
                <a:sym typeface="Times New Roman"/>
              </a:rPr>
              <a:t>El Problema</a:t>
            </a:r>
            <a:r>
              <a:rPr lang="es">
                <a:latin typeface="Times New Roman"/>
                <a:ea typeface="Times New Roman"/>
                <a:cs typeface="Times New Roman"/>
                <a:sym typeface="Times New Roman"/>
              </a:rPr>
              <a:t>: ¿Porque es </a:t>
            </a:r>
            <a:r>
              <a:rPr lang="es">
                <a:latin typeface="Times New Roman"/>
                <a:ea typeface="Times New Roman"/>
                <a:cs typeface="Times New Roman"/>
                <a:sym typeface="Times New Roman"/>
              </a:rPr>
              <a:t>difícil</a:t>
            </a:r>
            <a:r>
              <a:rPr lang="es">
                <a:latin typeface="Times New Roman"/>
                <a:ea typeface="Times New Roman"/>
                <a:cs typeface="Times New Roman"/>
                <a:sym typeface="Times New Roman"/>
              </a:rPr>
              <a:t> jugar si no </a:t>
            </a:r>
            <a:r>
              <a:rPr lang="es">
                <a:latin typeface="Times New Roman"/>
                <a:ea typeface="Times New Roman"/>
                <a:cs typeface="Times New Roman"/>
                <a:sym typeface="Times New Roman"/>
              </a:rPr>
              <a:t>estás</a:t>
            </a:r>
            <a:r>
              <a:rPr lang="es">
                <a:latin typeface="Times New Roman"/>
                <a:ea typeface="Times New Roman"/>
                <a:cs typeface="Times New Roman"/>
                <a:sym typeface="Times New Roman"/>
              </a:rPr>
              <a:t> federado? </a:t>
            </a:r>
            <a:endParaRPr>
              <a:latin typeface="Times New Roman"/>
              <a:ea typeface="Times New Roman"/>
              <a:cs typeface="Times New Roman"/>
              <a:sym typeface="Times New Roman"/>
            </a:endParaRPr>
          </a:p>
        </p:txBody>
      </p:sp>
      <p:pic>
        <p:nvPicPr>
          <p:cNvPr id="67" name="Google Shape;67;p15"/>
          <p:cNvPicPr preferRelativeResize="0"/>
          <p:nvPr/>
        </p:nvPicPr>
        <p:blipFill rotWithShape="1">
          <a:blip r:embed="rId4">
            <a:alphaModFix/>
          </a:blip>
          <a:srcRect b="-3594" l="0" r="-3594" t="0"/>
          <a:stretch/>
        </p:blipFill>
        <p:spPr>
          <a:xfrm>
            <a:off x="382913" y="1911504"/>
            <a:ext cx="720000" cy="720000"/>
          </a:xfrm>
          <a:prstGeom prst="rect">
            <a:avLst/>
          </a:prstGeom>
          <a:noFill/>
          <a:ln>
            <a:noFill/>
          </a:ln>
        </p:spPr>
      </p:pic>
      <p:sp>
        <p:nvSpPr>
          <p:cNvPr id="68" name="Google Shape;68;p15"/>
          <p:cNvSpPr txBox="1"/>
          <p:nvPr/>
        </p:nvSpPr>
        <p:spPr>
          <a:xfrm>
            <a:off x="1272288" y="2026563"/>
            <a:ext cx="7560000" cy="48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rPr>
              <a:t>Organización caótica</a:t>
            </a:r>
            <a:r>
              <a:rPr lang="es" sz="1800">
                <a:solidFill>
                  <a:schemeClr val="dk2"/>
                </a:solidFill>
              </a:rPr>
              <a:t>: Partidos cancelados por falta de jugadores</a:t>
            </a:r>
            <a:endParaRPr sz="1800">
              <a:solidFill>
                <a:schemeClr val="dk2"/>
              </a:solidFill>
            </a:endParaRPr>
          </a:p>
        </p:txBody>
      </p:sp>
      <p:sp>
        <p:nvSpPr>
          <p:cNvPr id="69" name="Google Shape;69;p15"/>
          <p:cNvSpPr txBox="1"/>
          <p:nvPr/>
        </p:nvSpPr>
        <p:spPr>
          <a:xfrm>
            <a:off x="1272302" y="2871217"/>
            <a:ext cx="7560000" cy="48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rPr>
              <a:t>Niveles dispares: </a:t>
            </a:r>
            <a:r>
              <a:rPr lang="es" sz="1800">
                <a:solidFill>
                  <a:schemeClr val="dk2"/>
                </a:solidFill>
              </a:rPr>
              <a:t>Malas experiencias al mezclar niveles</a:t>
            </a:r>
            <a:endParaRPr sz="1800">
              <a:solidFill>
                <a:schemeClr val="dk2"/>
              </a:solidFill>
            </a:endParaRPr>
          </a:p>
        </p:txBody>
      </p:sp>
      <p:pic>
        <p:nvPicPr>
          <p:cNvPr id="70" name="Google Shape;70;p15"/>
          <p:cNvPicPr preferRelativeResize="0"/>
          <p:nvPr/>
        </p:nvPicPr>
        <p:blipFill>
          <a:blip r:embed="rId5">
            <a:alphaModFix/>
          </a:blip>
          <a:stretch>
            <a:fillRect/>
          </a:stretch>
        </p:blipFill>
        <p:spPr>
          <a:xfrm>
            <a:off x="382913" y="3600800"/>
            <a:ext cx="720000" cy="720000"/>
          </a:xfrm>
          <a:prstGeom prst="rect">
            <a:avLst/>
          </a:prstGeom>
          <a:noFill/>
          <a:ln>
            <a:noFill/>
          </a:ln>
        </p:spPr>
      </p:pic>
      <p:sp>
        <p:nvSpPr>
          <p:cNvPr id="71" name="Google Shape;71;p15"/>
          <p:cNvSpPr txBox="1"/>
          <p:nvPr/>
        </p:nvSpPr>
        <p:spPr>
          <a:xfrm>
            <a:off x="1272288" y="3715880"/>
            <a:ext cx="7560000" cy="48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chemeClr val="dk2"/>
                </a:solidFill>
              </a:rPr>
              <a:t>Barrera de entrada</a:t>
            </a:r>
            <a:r>
              <a:rPr lang="es" sz="1800">
                <a:solidFill>
                  <a:schemeClr val="dk2"/>
                </a:solidFill>
              </a:rPr>
              <a:t>: Dificultad para practicar nuevos deportes</a:t>
            </a:r>
            <a:endParaRPr sz="1800">
              <a:solidFill>
                <a:schemeClr val="dk2"/>
              </a:solidFill>
            </a:endParaRPr>
          </a:p>
        </p:txBody>
      </p:sp>
      <p:pic>
        <p:nvPicPr>
          <p:cNvPr id="72" name="Google Shape;72;p15"/>
          <p:cNvPicPr preferRelativeResize="0"/>
          <p:nvPr/>
        </p:nvPicPr>
        <p:blipFill>
          <a:blip r:embed="rId6">
            <a:alphaModFix/>
          </a:blip>
          <a:stretch>
            <a:fillRect/>
          </a:stretch>
        </p:blipFill>
        <p:spPr>
          <a:xfrm>
            <a:off x="382900" y="2756138"/>
            <a:ext cx="720000" cy="720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6" name="Shape 76"/>
        <p:cNvGrpSpPr/>
        <p:nvPr/>
      </p:nvGrpSpPr>
      <p:grpSpPr>
        <a:xfrm>
          <a:off x="0" y="0"/>
          <a:ext cx="0" cy="0"/>
          <a:chOff x="0" y="0"/>
          <a:chExt cx="0" cy="0"/>
        </a:xfrm>
      </p:grpSpPr>
      <p:sp>
        <p:nvSpPr>
          <p:cNvPr id="77" name="Google Shape;77;p16"/>
          <p:cNvSpPr txBox="1"/>
          <p:nvPr>
            <p:ph type="title"/>
          </p:nvPr>
        </p:nvSpPr>
        <p:spPr>
          <a:xfrm>
            <a:off x="311700" y="4854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latin typeface="Times New Roman"/>
                <a:ea typeface="Times New Roman"/>
                <a:cs typeface="Times New Roman"/>
                <a:sym typeface="Times New Roman"/>
              </a:rPr>
              <a:t>1º Persona</a:t>
            </a:r>
            <a:endParaRPr b="1">
              <a:latin typeface="Times New Roman"/>
              <a:ea typeface="Times New Roman"/>
              <a:cs typeface="Times New Roman"/>
              <a:sym typeface="Times New Roman"/>
            </a:endParaRPr>
          </a:p>
        </p:txBody>
      </p:sp>
      <p:pic>
        <p:nvPicPr>
          <p:cNvPr id="78" name="Google Shape;78;p16"/>
          <p:cNvPicPr preferRelativeResize="0"/>
          <p:nvPr/>
        </p:nvPicPr>
        <p:blipFill>
          <a:blip r:embed="rId4">
            <a:alphaModFix/>
          </a:blip>
          <a:stretch>
            <a:fillRect/>
          </a:stretch>
        </p:blipFill>
        <p:spPr>
          <a:xfrm>
            <a:off x="2099250" y="1384150"/>
            <a:ext cx="4945501" cy="30952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2" name="Shape 82"/>
        <p:cNvGrpSpPr/>
        <p:nvPr/>
      </p:nvGrpSpPr>
      <p:grpSpPr>
        <a:xfrm>
          <a:off x="0" y="0"/>
          <a:ext cx="0" cy="0"/>
          <a:chOff x="0" y="0"/>
          <a:chExt cx="0" cy="0"/>
        </a:xfrm>
      </p:grpSpPr>
      <p:sp>
        <p:nvSpPr>
          <p:cNvPr id="83" name="Google Shape;83;p17"/>
          <p:cNvSpPr txBox="1"/>
          <p:nvPr>
            <p:ph type="title"/>
          </p:nvPr>
        </p:nvSpPr>
        <p:spPr>
          <a:xfrm>
            <a:off x="311700" y="845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Times New Roman"/>
                <a:ea typeface="Times New Roman"/>
                <a:cs typeface="Times New Roman"/>
                <a:sym typeface="Times New Roman"/>
              </a:rPr>
              <a:t>Escenario</a:t>
            </a:r>
            <a:endParaRPr b="1">
              <a:latin typeface="Times New Roman"/>
              <a:ea typeface="Times New Roman"/>
              <a:cs typeface="Times New Roman"/>
              <a:sym typeface="Times New Roman"/>
            </a:endParaRPr>
          </a:p>
        </p:txBody>
      </p:sp>
      <p:sp>
        <p:nvSpPr>
          <p:cNvPr id="84" name="Google Shape;84;p17"/>
          <p:cNvSpPr txBox="1"/>
          <p:nvPr>
            <p:ph idx="1" type="body"/>
          </p:nvPr>
        </p:nvSpPr>
        <p:spPr>
          <a:xfrm>
            <a:off x="311700" y="1435350"/>
            <a:ext cx="8520600" cy="29928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lang="es" sz="2100">
                <a:solidFill>
                  <a:schemeClr val="dk1"/>
                </a:solidFill>
                <a:latin typeface="Times New Roman"/>
                <a:ea typeface="Times New Roman"/>
                <a:cs typeface="Times New Roman"/>
                <a:sym typeface="Times New Roman"/>
              </a:rPr>
              <a:t>Son las 12 de la mañana y Juan tiene un partido esta noche. 2 amigos suyos han dicho que les ha surgido un imprevisto y no pueden asistir. Llegado a este punto, decide publicar el evento en la app iCancha ya que usan esa app para valorarse entre sus amigos después de cada partido aprovecha su funcionalidad de buscar gente para rellenar esos huecos y recibir feedback tanto de su rendimiento como de la peña. También aprovecha la funcionalidad de que se le envía una notificación preferentemente a los usuarios que están designados como amigos en la app, que son personas que ya conoce, de esta forma no es necesario avisar por algún servicio de chat externo a la app</a:t>
            </a:r>
            <a:r>
              <a:rPr lang="es" sz="1500">
                <a:solidFill>
                  <a:schemeClr val="dk1"/>
                </a:solidFill>
                <a:latin typeface="Times New Roman"/>
                <a:ea typeface="Times New Roman"/>
                <a:cs typeface="Times New Roman"/>
                <a:sym typeface="Times New Roman"/>
              </a:rPr>
              <a:t>.</a:t>
            </a:r>
            <a:endParaRPr sz="21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8" name="Shape 88"/>
        <p:cNvGrpSpPr/>
        <p:nvPr/>
      </p:nvGrpSpPr>
      <p:grpSpPr>
        <a:xfrm>
          <a:off x="0" y="0"/>
          <a:ext cx="0" cy="0"/>
          <a:chOff x="0" y="0"/>
          <a:chExt cx="0" cy="0"/>
        </a:xfrm>
      </p:grpSpPr>
      <p:sp>
        <p:nvSpPr>
          <p:cNvPr id="89" name="Google Shape;89;p18"/>
          <p:cNvSpPr txBox="1"/>
          <p:nvPr>
            <p:ph type="title"/>
          </p:nvPr>
        </p:nvSpPr>
        <p:spPr>
          <a:xfrm>
            <a:off x="311700" y="4854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latin typeface="Times New Roman"/>
                <a:ea typeface="Times New Roman"/>
                <a:cs typeface="Times New Roman"/>
                <a:sym typeface="Times New Roman"/>
              </a:rPr>
              <a:t>2</a:t>
            </a:r>
            <a:r>
              <a:rPr b="1" lang="es">
                <a:latin typeface="Times New Roman"/>
                <a:ea typeface="Times New Roman"/>
                <a:cs typeface="Times New Roman"/>
                <a:sym typeface="Times New Roman"/>
              </a:rPr>
              <a:t>º Persona</a:t>
            </a:r>
            <a:endParaRPr b="1">
              <a:latin typeface="Times New Roman"/>
              <a:ea typeface="Times New Roman"/>
              <a:cs typeface="Times New Roman"/>
              <a:sym typeface="Times New Roman"/>
            </a:endParaRPr>
          </a:p>
        </p:txBody>
      </p:sp>
      <p:sp>
        <p:nvSpPr>
          <p:cNvPr id="90" name="Google Shape;90;p18"/>
          <p:cNvSpPr txBox="1"/>
          <p:nvPr/>
        </p:nvSpPr>
        <p:spPr>
          <a:xfrm>
            <a:off x="2642500" y="1706325"/>
            <a:ext cx="3252000" cy="43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endParaRPr>
          </a:p>
        </p:txBody>
      </p:sp>
      <p:pic>
        <p:nvPicPr>
          <p:cNvPr id="91" name="Google Shape;91;p18"/>
          <p:cNvPicPr preferRelativeResize="0"/>
          <p:nvPr/>
        </p:nvPicPr>
        <p:blipFill>
          <a:blip r:embed="rId4">
            <a:alphaModFix/>
          </a:blip>
          <a:stretch>
            <a:fillRect/>
          </a:stretch>
        </p:blipFill>
        <p:spPr>
          <a:xfrm>
            <a:off x="2241987" y="1178800"/>
            <a:ext cx="4660025" cy="38694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5" name="Shape 95"/>
        <p:cNvGrpSpPr/>
        <p:nvPr/>
      </p:nvGrpSpPr>
      <p:grpSpPr>
        <a:xfrm>
          <a:off x="0" y="0"/>
          <a:ext cx="0" cy="0"/>
          <a:chOff x="0" y="0"/>
          <a:chExt cx="0" cy="0"/>
        </a:xfrm>
      </p:grpSpPr>
      <p:sp>
        <p:nvSpPr>
          <p:cNvPr id="96" name="Google Shape;96;p19"/>
          <p:cNvSpPr txBox="1"/>
          <p:nvPr>
            <p:ph type="title"/>
          </p:nvPr>
        </p:nvSpPr>
        <p:spPr>
          <a:xfrm>
            <a:off x="311700" y="845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Times New Roman"/>
                <a:ea typeface="Times New Roman"/>
                <a:cs typeface="Times New Roman"/>
                <a:sym typeface="Times New Roman"/>
              </a:rPr>
              <a:t>Escenario</a:t>
            </a:r>
            <a:endParaRPr b="1">
              <a:latin typeface="Times New Roman"/>
              <a:ea typeface="Times New Roman"/>
              <a:cs typeface="Times New Roman"/>
              <a:sym typeface="Times New Roman"/>
            </a:endParaRPr>
          </a:p>
        </p:txBody>
      </p:sp>
      <p:sp>
        <p:nvSpPr>
          <p:cNvPr id="97" name="Google Shape;97;p19"/>
          <p:cNvSpPr txBox="1"/>
          <p:nvPr/>
        </p:nvSpPr>
        <p:spPr>
          <a:xfrm>
            <a:off x="459900" y="1400250"/>
            <a:ext cx="8224200" cy="306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s" sz="1700">
                <a:solidFill>
                  <a:schemeClr val="dk1"/>
                </a:solidFill>
                <a:latin typeface="Times New Roman"/>
                <a:ea typeface="Times New Roman"/>
                <a:cs typeface="Times New Roman"/>
                <a:sym typeface="Times New Roman"/>
              </a:rPr>
              <a:t>Pablo, estudiante de 19 años recién llegado a Granada, busca integrarse en la ciudad y continuar practicando baloncesto. Aunque acude al gimnasio y ocasionalmente tira a canasta en una pista cercana, desea participar en partidos reales y conocer a otros jugadores.</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s" sz="1700">
                <a:solidFill>
                  <a:schemeClr val="dk1"/>
                </a:solidFill>
                <a:latin typeface="Times New Roman"/>
                <a:ea typeface="Times New Roman"/>
                <a:cs typeface="Times New Roman"/>
                <a:sym typeface="Times New Roman"/>
              </a:rPr>
              <a:t>Con el objetivo claro de poder jugar un partido de baloncesto, usa la aplicación iCancha para que le ayude a encontrar a más personas. Al entrar en dicha aplicación, puede observar varios encuentros disponibles y tras analizarlos y filtrar entre sus propios intereses (nivel de juego y grado de confiabilidad del organizador), selecciona un encuentro que le parece adecuado.</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s" sz="1700">
                <a:solidFill>
                  <a:schemeClr val="dk1"/>
                </a:solidFill>
                <a:latin typeface="Times New Roman"/>
                <a:ea typeface="Times New Roman"/>
                <a:cs typeface="Times New Roman"/>
                <a:sym typeface="Times New Roman"/>
              </a:rPr>
              <a:t>Gracias a esta aplicacion, Pablo puede quedar para jugar y además le permite conocer a personas con sus mismos gustos e intereses por el deporte.</a:t>
            </a:r>
            <a:endParaRPr sz="17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7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1" name="Shape 101"/>
        <p:cNvGrpSpPr/>
        <p:nvPr/>
      </p:nvGrpSpPr>
      <p:grpSpPr>
        <a:xfrm>
          <a:off x="0" y="0"/>
          <a:ext cx="0" cy="0"/>
          <a:chOff x="0" y="0"/>
          <a:chExt cx="0" cy="0"/>
        </a:xfrm>
      </p:grpSpPr>
      <p:sp>
        <p:nvSpPr>
          <p:cNvPr id="102" name="Google Shape;102;p20"/>
          <p:cNvSpPr txBox="1"/>
          <p:nvPr>
            <p:ph type="title"/>
          </p:nvPr>
        </p:nvSpPr>
        <p:spPr>
          <a:xfrm>
            <a:off x="311700" y="485400"/>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b="1" lang="es">
                <a:latin typeface="Times New Roman"/>
                <a:ea typeface="Times New Roman"/>
                <a:cs typeface="Times New Roman"/>
                <a:sym typeface="Times New Roman"/>
              </a:rPr>
              <a:t>3</a:t>
            </a:r>
            <a:r>
              <a:rPr b="1" lang="es">
                <a:latin typeface="Times New Roman"/>
                <a:ea typeface="Times New Roman"/>
                <a:cs typeface="Times New Roman"/>
                <a:sym typeface="Times New Roman"/>
              </a:rPr>
              <a:t>º Persona</a:t>
            </a:r>
            <a:endParaRPr b="1">
              <a:latin typeface="Times New Roman"/>
              <a:ea typeface="Times New Roman"/>
              <a:cs typeface="Times New Roman"/>
              <a:sym typeface="Times New Roman"/>
            </a:endParaRPr>
          </a:p>
        </p:txBody>
      </p:sp>
      <p:pic>
        <p:nvPicPr>
          <p:cNvPr id="103" name="Google Shape;103;p20"/>
          <p:cNvPicPr preferRelativeResize="0"/>
          <p:nvPr/>
        </p:nvPicPr>
        <p:blipFill>
          <a:blip r:embed="rId4">
            <a:alphaModFix/>
          </a:blip>
          <a:stretch>
            <a:fillRect/>
          </a:stretch>
        </p:blipFill>
        <p:spPr>
          <a:xfrm>
            <a:off x="2299738" y="1157700"/>
            <a:ext cx="4544524" cy="3681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7" name="Shape 107"/>
        <p:cNvGrpSpPr/>
        <p:nvPr/>
      </p:nvGrpSpPr>
      <p:grpSpPr>
        <a:xfrm>
          <a:off x="0" y="0"/>
          <a:ext cx="0" cy="0"/>
          <a:chOff x="0" y="0"/>
          <a:chExt cx="0" cy="0"/>
        </a:xfrm>
      </p:grpSpPr>
      <p:sp>
        <p:nvSpPr>
          <p:cNvPr id="108" name="Google Shape;108;p21"/>
          <p:cNvSpPr txBox="1"/>
          <p:nvPr>
            <p:ph type="title"/>
          </p:nvPr>
        </p:nvSpPr>
        <p:spPr>
          <a:xfrm>
            <a:off x="311700" y="845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Times New Roman"/>
                <a:ea typeface="Times New Roman"/>
                <a:cs typeface="Times New Roman"/>
                <a:sym typeface="Times New Roman"/>
              </a:rPr>
              <a:t>Escenario</a:t>
            </a:r>
            <a:endParaRPr b="1">
              <a:latin typeface="Times New Roman"/>
              <a:ea typeface="Times New Roman"/>
              <a:cs typeface="Times New Roman"/>
              <a:sym typeface="Times New Roman"/>
            </a:endParaRPr>
          </a:p>
        </p:txBody>
      </p:sp>
      <p:sp>
        <p:nvSpPr>
          <p:cNvPr id="109" name="Google Shape;109;p21"/>
          <p:cNvSpPr txBox="1"/>
          <p:nvPr/>
        </p:nvSpPr>
        <p:spPr>
          <a:xfrm>
            <a:off x="485100" y="1484850"/>
            <a:ext cx="8173800" cy="289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1600">
                <a:solidFill>
                  <a:schemeClr val="dk1"/>
                </a:solidFill>
                <a:latin typeface="Times New Roman"/>
                <a:ea typeface="Times New Roman"/>
                <a:cs typeface="Times New Roman"/>
                <a:sym typeface="Times New Roman"/>
              </a:rPr>
              <a:t>Charo tiene dos tardes a la semana completamente libres y quiere aprovecharlas realizando alguna actividad deportiva, ya que en su trabajo pasa la mayor parte de la jornada sentada. Como lleva muchos años sin practicar deporte, no desea complicarse con una actividad que exija estar muy en forma.</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s" sz="1600">
                <a:solidFill>
                  <a:schemeClr val="dk1"/>
                </a:solidFill>
                <a:latin typeface="Times New Roman"/>
                <a:ea typeface="Times New Roman"/>
                <a:cs typeface="Times New Roman"/>
                <a:sym typeface="Times New Roman"/>
              </a:rPr>
              <a:t>Por ello, ha pensado en buscar un grupo de personas de su edad para salir a caminar o hacer actividades como yoga en el parque. Además de mantenerse activa, le motiva la idea de crear un grupo de amigos con quienes compartir buenos momentos.</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s" sz="1600">
                <a:solidFill>
                  <a:schemeClr val="dk1"/>
                </a:solidFill>
                <a:latin typeface="Times New Roman"/>
                <a:ea typeface="Times New Roman"/>
                <a:cs typeface="Times New Roman"/>
                <a:sym typeface="Times New Roman"/>
              </a:rPr>
              <a:t>Explicando la situación a su hija menor, está le propone que se instale la aplicación iCancha, con la que podrá buscar eventos como los que está buscando y hacer una red de amigos.</a:t>
            </a:r>
            <a:endParaRPr sz="1600">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3" name="Shape 113"/>
        <p:cNvGrpSpPr/>
        <p:nvPr/>
      </p:nvGrpSpPr>
      <p:grpSpPr>
        <a:xfrm>
          <a:off x="0" y="0"/>
          <a:ext cx="0" cy="0"/>
          <a:chOff x="0" y="0"/>
          <a:chExt cx="0" cy="0"/>
        </a:xfrm>
      </p:grpSpPr>
      <p:sp>
        <p:nvSpPr>
          <p:cNvPr id="114" name="Google Shape;114;p22"/>
          <p:cNvSpPr txBox="1"/>
          <p:nvPr>
            <p:ph type="title"/>
          </p:nvPr>
        </p:nvSpPr>
        <p:spPr>
          <a:xfrm>
            <a:off x="311700" y="845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Times New Roman"/>
                <a:ea typeface="Times New Roman"/>
                <a:cs typeface="Times New Roman"/>
                <a:sym typeface="Times New Roman"/>
              </a:rPr>
              <a:t>Stakeholders</a:t>
            </a:r>
            <a:endParaRPr b="1">
              <a:latin typeface="Times New Roman"/>
              <a:ea typeface="Times New Roman"/>
              <a:cs typeface="Times New Roman"/>
              <a:sym typeface="Times New Roman"/>
            </a:endParaRPr>
          </a:p>
        </p:txBody>
      </p:sp>
      <p:sp>
        <p:nvSpPr>
          <p:cNvPr id="115" name="Google Shape;115;p22"/>
          <p:cNvSpPr txBox="1"/>
          <p:nvPr/>
        </p:nvSpPr>
        <p:spPr>
          <a:xfrm>
            <a:off x="519750" y="1600650"/>
            <a:ext cx="8104500" cy="266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s" sz="1800">
                <a:solidFill>
                  <a:schemeClr val="dk2"/>
                </a:solidFill>
                <a:latin typeface="Times New Roman"/>
                <a:ea typeface="Times New Roman"/>
                <a:cs typeface="Times New Roman"/>
                <a:sym typeface="Times New Roman"/>
              </a:rPr>
              <a:t>-	Usuarios de la aplicación</a:t>
            </a:r>
            <a:endParaRPr sz="18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s" sz="1800">
                <a:solidFill>
                  <a:schemeClr val="dk2"/>
                </a:solidFill>
                <a:latin typeface="Times New Roman"/>
                <a:ea typeface="Times New Roman"/>
                <a:cs typeface="Times New Roman"/>
                <a:sym typeface="Times New Roman"/>
              </a:rPr>
              <a:t>-	Empresas con instalaciones deportivas</a:t>
            </a:r>
            <a:endParaRPr sz="18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s" sz="1800">
                <a:solidFill>
                  <a:schemeClr val="dk2"/>
                </a:solidFill>
                <a:latin typeface="Times New Roman"/>
                <a:ea typeface="Times New Roman"/>
                <a:cs typeface="Times New Roman"/>
                <a:sym typeface="Times New Roman"/>
              </a:rPr>
              <a:t>-	Patrocinadores</a:t>
            </a:r>
            <a:endParaRPr sz="18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s" sz="1800">
                <a:solidFill>
                  <a:schemeClr val="dk2"/>
                </a:solidFill>
                <a:latin typeface="Times New Roman"/>
                <a:ea typeface="Times New Roman"/>
                <a:cs typeface="Times New Roman"/>
                <a:sym typeface="Times New Roman"/>
              </a:rPr>
              <a:t>-	Programadores</a:t>
            </a:r>
            <a:endParaRPr sz="18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s" sz="1800">
                <a:solidFill>
                  <a:schemeClr val="dk2"/>
                </a:solidFill>
                <a:latin typeface="Times New Roman"/>
                <a:ea typeface="Times New Roman"/>
                <a:cs typeface="Times New Roman"/>
                <a:sym typeface="Times New Roman"/>
              </a:rPr>
              <a:t>-	Proveedores de servicios IT</a:t>
            </a:r>
            <a:endParaRPr sz="18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s" sz="1800">
                <a:solidFill>
                  <a:schemeClr val="dk2"/>
                </a:solidFill>
                <a:latin typeface="Times New Roman"/>
                <a:ea typeface="Times New Roman"/>
                <a:cs typeface="Times New Roman"/>
                <a:sym typeface="Times New Roman"/>
              </a:rPr>
              <a:t>-	Administradores</a:t>
            </a:r>
            <a:endParaRPr sz="18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2"/>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9" name="Shape 119"/>
        <p:cNvGrpSpPr/>
        <p:nvPr/>
      </p:nvGrpSpPr>
      <p:grpSpPr>
        <a:xfrm>
          <a:off x="0" y="0"/>
          <a:ext cx="0" cy="0"/>
          <a:chOff x="0" y="0"/>
          <a:chExt cx="0" cy="0"/>
        </a:xfrm>
      </p:grpSpPr>
      <p:sp>
        <p:nvSpPr>
          <p:cNvPr id="120" name="Google Shape;120;p23"/>
          <p:cNvSpPr txBox="1"/>
          <p:nvPr>
            <p:ph type="title"/>
          </p:nvPr>
        </p:nvSpPr>
        <p:spPr>
          <a:xfrm>
            <a:off x="311700" y="845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Times New Roman"/>
                <a:ea typeface="Times New Roman"/>
                <a:cs typeface="Times New Roman"/>
                <a:sym typeface="Times New Roman"/>
              </a:rPr>
              <a:t>Usuarios</a:t>
            </a:r>
            <a:endParaRPr b="1">
              <a:latin typeface="Times New Roman"/>
              <a:ea typeface="Times New Roman"/>
              <a:cs typeface="Times New Roman"/>
              <a:sym typeface="Times New Roman"/>
            </a:endParaRPr>
          </a:p>
        </p:txBody>
      </p:sp>
      <p:sp>
        <p:nvSpPr>
          <p:cNvPr id="121" name="Google Shape;121;p23"/>
          <p:cNvSpPr txBox="1"/>
          <p:nvPr/>
        </p:nvSpPr>
        <p:spPr>
          <a:xfrm>
            <a:off x="519750" y="1965150"/>
            <a:ext cx="8104500" cy="229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s" sz="1800">
                <a:solidFill>
                  <a:schemeClr val="dk2"/>
                </a:solidFill>
                <a:latin typeface="Times New Roman"/>
                <a:ea typeface="Times New Roman"/>
                <a:cs typeface="Times New Roman"/>
                <a:sym typeface="Times New Roman"/>
              </a:rPr>
              <a:t>-	Usuario participante</a:t>
            </a:r>
            <a:endParaRPr sz="1800">
              <a:solidFill>
                <a:schemeClr val="dk2"/>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s" sz="1800">
                <a:solidFill>
                  <a:schemeClr val="dk2"/>
                </a:solidFill>
                <a:latin typeface="Times New Roman"/>
                <a:ea typeface="Times New Roman"/>
                <a:cs typeface="Times New Roman"/>
                <a:sym typeface="Times New Roman"/>
              </a:rPr>
              <a:t>-	Usuario organizador</a:t>
            </a:r>
            <a:endParaRPr sz="1800">
              <a:solidFill>
                <a:schemeClr val="dk2"/>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s" sz="1800">
                <a:solidFill>
                  <a:schemeClr val="dk2"/>
                </a:solidFill>
                <a:latin typeface="Times New Roman"/>
                <a:ea typeface="Times New Roman"/>
                <a:cs typeface="Times New Roman"/>
                <a:sym typeface="Times New Roman"/>
              </a:rPr>
              <a:t>-	Administrador de instalación</a:t>
            </a:r>
            <a:endParaRPr sz="1800">
              <a:solidFill>
                <a:schemeClr val="dk2"/>
              </a:solidFill>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s" sz="1800">
                <a:solidFill>
                  <a:schemeClr val="dk2"/>
                </a:solidFill>
                <a:latin typeface="Times New Roman"/>
                <a:ea typeface="Times New Roman"/>
                <a:cs typeface="Times New Roman"/>
                <a:sym typeface="Times New Roman"/>
              </a:rPr>
              <a:t>-	Moderador</a:t>
            </a:r>
            <a:endParaRPr sz="18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2"/>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5" name="Shape 125"/>
        <p:cNvGrpSpPr/>
        <p:nvPr/>
      </p:nvGrpSpPr>
      <p:grpSpPr>
        <a:xfrm>
          <a:off x="0" y="0"/>
          <a:ext cx="0" cy="0"/>
          <a:chOff x="0" y="0"/>
          <a:chExt cx="0" cy="0"/>
        </a:xfrm>
      </p:grpSpPr>
      <p:sp>
        <p:nvSpPr>
          <p:cNvPr id="126" name="Google Shape;126;p24"/>
          <p:cNvSpPr txBox="1"/>
          <p:nvPr>
            <p:ph type="title"/>
          </p:nvPr>
        </p:nvSpPr>
        <p:spPr>
          <a:xfrm>
            <a:off x="311700" y="845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Times New Roman"/>
                <a:ea typeface="Times New Roman"/>
                <a:cs typeface="Times New Roman"/>
                <a:sym typeface="Times New Roman"/>
              </a:rPr>
              <a:t>Necesidades claves de alta prioridad</a:t>
            </a:r>
            <a:endParaRPr b="1">
              <a:latin typeface="Times New Roman"/>
              <a:ea typeface="Times New Roman"/>
              <a:cs typeface="Times New Roman"/>
              <a:sym typeface="Times New Roman"/>
            </a:endParaRPr>
          </a:p>
        </p:txBody>
      </p:sp>
      <p:sp>
        <p:nvSpPr>
          <p:cNvPr id="127" name="Google Shape;127;p24"/>
          <p:cNvSpPr txBox="1"/>
          <p:nvPr/>
        </p:nvSpPr>
        <p:spPr>
          <a:xfrm>
            <a:off x="519750" y="1965150"/>
            <a:ext cx="8104500" cy="229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 sz="1800">
                <a:solidFill>
                  <a:schemeClr val="dk2"/>
                </a:solidFill>
                <a:latin typeface="Times New Roman"/>
                <a:ea typeface="Times New Roman"/>
                <a:cs typeface="Times New Roman"/>
                <a:sym typeface="Times New Roman"/>
              </a:rPr>
              <a:t>-	Organizar y apuntarse fácilmente a eventos (</a:t>
            </a:r>
            <a:r>
              <a:rPr lang="es" sz="1800">
                <a:solidFill>
                  <a:schemeClr val="dk2"/>
                </a:solidFill>
                <a:latin typeface="Times New Roman"/>
                <a:ea typeface="Times New Roman"/>
                <a:cs typeface="Times New Roman"/>
                <a:sym typeface="Times New Roman"/>
              </a:rPr>
              <a:t>Usuarios de la aplicación</a:t>
            </a:r>
            <a:r>
              <a:rPr lang="es" sz="1800">
                <a:solidFill>
                  <a:schemeClr val="dk2"/>
                </a:solidFill>
                <a:latin typeface="Times New Roman"/>
                <a:ea typeface="Times New Roman"/>
                <a:cs typeface="Times New Roman"/>
                <a:sym typeface="Times New Roman"/>
              </a:rPr>
              <a:t>)</a:t>
            </a:r>
            <a:endParaRPr sz="18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s" sz="1800">
                <a:solidFill>
                  <a:schemeClr val="dk2"/>
                </a:solidFill>
                <a:latin typeface="Times New Roman"/>
                <a:ea typeface="Times New Roman"/>
                <a:cs typeface="Times New Roman"/>
                <a:sym typeface="Times New Roman"/>
              </a:rPr>
              <a:t>-	</a:t>
            </a:r>
            <a:r>
              <a:rPr lang="es" sz="1800">
                <a:solidFill>
                  <a:schemeClr val="dk2"/>
                </a:solidFill>
                <a:latin typeface="Times New Roman"/>
                <a:ea typeface="Times New Roman"/>
                <a:cs typeface="Times New Roman"/>
                <a:sym typeface="Times New Roman"/>
              </a:rPr>
              <a:t>Gestión eficaz de reservas de instalaciones (Administrador de instalación)</a:t>
            </a:r>
            <a:endParaRPr sz="18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s" sz="1800">
                <a:solidFill>
                  <a:schemeClr val="dk2"/>
                </a:solidFill>
                <a:latin typeface="Times New Roman"/>
                <a:ea typeface="Times New Roman"/>
                <a:cs typeface="Times New Roman"/>
                <a:sym typeface="Times New Roman"/>
              </a:rPr>
              <a:t>-	Recibir soporte técnico y estabilidad del sistema (Todos)</a:t>
            </a:r>
            <a:endParaRPr sz="18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s" sz="1800">
                <a:solidFill>
                  <a:schemeClr val="dk2"/>
                </a:solidFill>
                <a:latin typeface="Times New Roman"/>
                <a:ea typeface="Times New Roman"/>
                <a:cs typeface="Times New Roman"/>
                <a:sym typeface="Times New Roman"/>
              </a:rPr>
              <a:t>-	Proteger datos personales y privacidad (Usuarios de la aplicación y programador)</a:t>
            </a:r>
            <a:endParaRPr sz="18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2"/>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1" name="Shape 131"/>
        <p:cNvGrpSpPr/>
        <p:nvPr/>
      </p:nvGrpSpPr>
      <p:grpSpPr>
        <a:xfrm>
          <a:off x="0" y="0"/>
          <a:ext cx="0" cy="0"/>
          <a:chOff x="0" y="0"/>
          <a:chExt cx="0" cy="0"/>
        </a:xfrm>
      </p:grpSpPr>
      <p:sp>
        <p:nvSpPr>
          <p:cNvPr id="132" name="Google Shape;132;p25"/>
          <p:cNvSpPr txBox="1"/>
          <p:nvPr>
            <p:ph type="title"/>
          </p:nvPr>
        </p:nvSpPr>
        <p:spPr>
          <a:xfrm>
            <a:off x="311700" y="845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Times New Roman"/>
                <a:ea typeface="Times New Roman"/>
                <a:cs typeface="Times New Roman"/>
                <a:sym typeface="Times New Roman"/>
              </a:rPr>
              <a:t>Necesidades claves de media prioridad</a:t>
            </a:r>
            <a:endParaRPr b="1">
              <a:latin typeface="Times New Roman"/>
              <a:ea typeface="Times New Roman"/>
              <a:cs typeface="Times New Roman"/>
              <a:sym typeface="Times New Roman"/>
            </a:endParaRPr>
          </a:p>
        </p:txBody>
      </p:sp>
      <p:sp>
        <p:nvSpPr>
          <p:cNvPr id="133" name="Google Shape;133;p25"/>
          <p:cNvSpPr txBox="1"/>
          <p:nvPr/>
        </p:nvSpPr>
        <p:spPr>
          <a:xfrm>
            <a:off x="519750" y="1965150"/>
            <a:ext cx="8104500" cy="229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s" sz="1800">
                <a:solidFill>
                  <a:schemeClr val="dk2"/>
                </a:solidFill>
                <a:latin typeface="Times New Roman"/>
                <a:ea typeface="Times New Roman"/>
                <a:cs typeface="Times New Roman"/>
                <a:sym typeface="Times New Roman"/>
              </a:rPr>
              <a:t>-	Resolver disputas y moderar la comunidad (Moderador)</a:t>
            </a:r>
            <a:endParaRPr sz="18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rPr lang="es" sz="1800">
                <a:solidFill>
                  <a:schemeClr val="dk2"/>
                </a:solidFill>
                <a:latin typeface="Times New Roman"/>
                <a:ea typeface="Times New Roman"/>
                <a:cs typeface="Times New Roman"/>
                <a:sym typeface="Times New Roman"/>
              </a:rPr>
              <a:t>-	Promocionar eventos y obtener visibilidad (Organizador y patrocinador)</a:t>
            </a:r>
            <a:endParaRPr sz="18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2"/>
              </a:solidFill>
              <a:latin typeface="Times New Roman"/>
              <a:ea typeface="Times New Roman"/>
              <a:cs typeface="Times New Roman"/>
              <a:sym typeface="Times New Roman"/>
            </a:endParaRPr>
          </a:p>
          <a:p>
            <a:pPr indent="0" lvl="0" marL="0" rtl="0" algn="l">
              <a:spcBef>
                <a:spcPts val="0"/>
              </a:spcBef>
              <a:spcAft>
                <a:spcPts val="0"/>
              </a:spcAft>
              <a:buNone/>
            </a:pPr>
            <a:r>
              <a:t/>
            </a:r>
            <a:endParaRPr sz="1800">
              <a:solidFill>
                <a:schemeClr val="dk2"/>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7" name="Shape 137"/>
        <p:cNvGrpSpPr/>
        <p:nvPr/>
      </p:nvGrpSpPr>
      <p:grpSpPr>
        <a:xfrm>
          <a:off x="0" y="0"/>
          <a:ext cx="0" cy="0"/>
          <a:chOff x="0" y="0"/>
          <a:chExt cx="0" cy="0"/>
        </a:xfrm>
      </p:grpSpPr>
      <p:sp>
        <p:nvSpPr>
          <p:cNvPr id="138" name="Google Shape;138;p26"/>
          <p:cNvSpPr txBox="1"/>
          <p:nvPr>
            <p:ph type="title"/>
          </p:nvPr>
        </p:nvSpPr>
        <p:spPr>
          <a:xfrm>
            <a:off x="311700" y="845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Times New Roman"/>
                <a:ea typeface="Times New Roman"/>
                <a:cs typeface="Times New Roman"/>
                <a:sym typeface="Times New Roman"/>
              </a:rPr>
              <a:t>Funcionalidades Clave</a:t>
            </a:r>
            <a:endParaRPr b="1">
              <a:latin typeface="Times New Roman"/>
              <a:ea typeface="Times New Roman"/>
              <a:cs typeface="Times New Roman"/>
              <a:sym typeface="Times New Roman"/>
            </a:endParaRPr>
          </a:p>
        </p:txBody>
      </p:sp>
      <p:sp>
        <p:nvSpPr>
          <p:cNvPr id="139" name="Google Shape;139;p26"/>
          <p:cNvSpPr/>
          <p:nvPr/>
        </p:nvSpPr>
        <p:spPr>
          <a:xfrm>
            <a:off x="796200" y="1589099"/>
            <a:ext cx="2020500" cy="525300"/>
          </a:xfrm>
          <a:prstGeom prst="roundRect">
            <a:avLst>
              <a:gd fmla="val 16667" name="adj"/>
            </a:avLst>
          </a:prstGeom>
          <a:solidFill>
            <a:srgbClr val="1D7E75"/>
          </a:solidFill>
          <a:ln cap="flat" cmpd="sng" w="9525">
            <a:solidFill>
              <a:srgbClr val="1D7E7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sz="1600">
                <a:solidFill>
                  <a:srgbClr val="FFFFFF"/>
                </a:solidFill>
                <a:latin typeface="Times New Roman"/>
                <a:ea typeface="Times New Roman"/>
                <a:cs typeface="Times New Roman"/>
                <a:sym typeface="Times New Roman"/>
              </a:rPr>
              <a:t>Esenciales</a:t>
            </a:r>
            <a:endParaRPr b="1" sz="1600">
              <a:solidFill>
                <a:srgbClr val="FFFFFF"/>
              </a:solidFill>
              <a:latin typeface="Times New Roman"/>
              <a:ea typeface="Times New Roman"/>
              <a:cs typeface="Times New Roman"/>
              <a:sym typeface="Times New Roman"/>
            </a:endParaRPr>
          </a:p>
        </p:txBody>
      </p:sp>
      <p:sp>
        <p:nvSpPr>
          <p:cNvPr id="140" name="Google Shape;140;p26"/>
          <p:cNvSpPr/>
          <p:nvPr/>
        </p:nvSpPr>
        <p:spPr>
          <a:xfrm>
            <a:off x="829050" y="3029385"/>
            <a:ext cx="2020500" cy="525300"/>
          </a:xfrm>
          <a:prstGeom prst="roundRect">
            <a:avLst>
              <a:gd fmla="val 16667" name="adj"/>
            </a:avLst>
          </a:prstGeom>
          <a:solidFill>
            <a:srgbClr val="1D7E75"/>
          </a:solidFill>
          <a:ln cap="flat" cmpd="sng" w="9525">
            <a:solidFill>
              <a:srgbClr val="1D7E7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sz="1600">
                <a:solidFill>
                  <a:srgbClr val="FFFFFF"/>
                </a:solidFill>
                <a:latin typeface="Times New Roman"/>
                <a:ea typeface="Times New Roman"/>
                <a:cs typeface="Times New Roman"/>
                <a:sym typeface="Times New Roman"/>
              </a:rPr>
              <a:t>Importantes</a:t>
            </a:r>
            <a:endParaRPr b="1" sz="1600">
              <a:solidFill>
                <a:srgbClr val="FFFFFF"/>
              </a:solidFill>
              <a:latin typeface="Times New Roman"/>
              <a:ea typeface="Times New Roman"/>
              <a:cs typeface="Times New Roman"/>
              <a:sym typeface="Times New Roman"/>
            </a:endParaRPr>
          </a:p>
        </p:txBody>
      </p:sp>
      <p:sp>
        <p:nvSpPr>
          <p:cNvPr id="141" name="Google Shape;141;p26"/>
          <p:cNvSpPr/>
          <p:nvPr/>
        </p:nvSpPr>
        <p:spPr>
          <a:xfrm>
            <a:off x="4070100" y="1293450"/>
            <a:ext cx="4243800" cy="1117200"/>
          </a:xfrm>
          <a:prstGeom prst="roundRect">
            <a:avLst>
              <a:gd fmla="val 16667" name="adj"/>
            </a:avLst>
          </a:prstGeom>
          <a:solidFill>
            <a:srgbClr val="249C91"/>
          </a:solidFill>
          <a:ln cap="flat" cmpd="sng" w="9525">
            <a:solidFill>
              <a:srgbClr val="249C91"/>
            </a:solidFill>
            <a:prstDash val="solid"/>
            <a:round/>
            <a:headEnd len="sm" w="sm" type="none"/>
            <a:tailEnd len="sm" w="sm" type="none"/>
          </a:ln>
        </p:spPr>
        <p:txBody>
          <a:bodyPr anchorCtr="0" anchor="ctr" bIns="91425" lIns="91425" spcFirstLastPara="1" rIns="91425" wrap="square" tIns="91425">
            <a:noAutofit/>
          </a:bodyPr>
          <a:lstStyle/>
          <a:p>
            <a:pPr indent="-298450" lvl="0" marL="457200" rtl="0" algn="l">
              <a:spcBef>
                <a:spcPts val="0"/>
              </a:spcBef>
              <a:spcAft>
                <a:spcPts val="0"/>
              </a:spcAft>
              <a:buClr>
                <a:schemeClr val="lt1"/>
              </a:buClr>
              <a:buSzPts val="1100"/>
              <a:buFont typeface="Times New Roman"/>
              <a:buChar char="●"/>
            </a:pPr>
            <a:r>
              <a:rPr lang="es" sz="1100">
                <a:solidFill>
                  <a:schemeClr val="lt1"/>
                </a:solidFill>
                <a:latin typeface="Times New Roman"/>
                <a:ea typeface="Times New Roman"/>
                <a:cs typeface="Times New Roman"/>
                <a:sym typeface="Times New Roman"/>
              </a:rPr>
              <a:t>Registro de usuarios</a:t>
            </a:r>
            <a:endParaRPr sz="1100">
              <a:solidFill>
                <a:schemeClr val="lt1"/>
              </a:solidFill>
              <a:latin typeface="Times New Roman"/>
              <a:ea typeface="Times New Roman"/>
              <a:cs typeface="Times New Roman"/>
              <a:sym typeface="Times New Roman"/>
            </a:endParaRPr>
          </a:p>
          <a:p>
            <a:pPr indent="-298450" lvl="0" marL="457200" rtl="0" algn="l">
              <a:spcBef>
                <a:spcPts val="0"/>
              </a:spcBef>
              <a:spcAft>
                <a:spcPts val="0"/>
              </a:spcAft>
              <a:buClr>
                <a:schemeClr val="lt1"/>
              </a:buClr>
              <a:buSzPts val="1100"/>
              <a:buFont typeface="Times New Roman"/>
              <a:buChar char="●"/>
            </a:pPr>
            <a:r>
              <a:rPr lang="es" sz="1100">
                <a:solidFill>
                  <a:schemeClr val="lt1"/>
                </a:solidFill>
                <a:latin typeface="Times New Roman"/>
                <a:ea typeface="Times New Roman"/>
                <a:cs typeface="Times New Roman"/>
                <a:sym typeface="Times New Roman"/>
              </a:rPr>
              <a:t>Creación y búsqueda de eventos</a:t>
            </a:r>
            <a:endParaRPr sz="1100">
              <a:solidFill>
                <a:schemeClr val="lt1"/>
              </a:solidFill>
              <a:latin typeface="Times New Roman"/>
              <a:ea typeface="Times New Roman"/>
              <a:cs typeface="Times New Roman"/>
              <a:sym typeface="Times New Roman"/>
            </a:endParaRPr>
          </a:p>
          <a:p>
            <a:pPr indent="-298450" lvl="0" marL="457200" rtl="0" algn="l">
              <a:spcBef>
                <a:spcPts val="0"/>
              </a:spcBef>
              <a:spcAft>
                <a:spcPts val="0"/>
              </a:spcAft>
              <a:buClr>
                <a:schemeClr val="lt1"/>
              </a:buClr>
              <a:buSzPts val="1100"/>
              <a:buFont typeface="Times New Roman"/>
              <a:buChar char="●"/>
            </a:pPr>
            <a:r>
              <a:rPr lang="es" sz="1100">
                <a:solidFill>
                  <a:schemeClr val="lt1"/>
                </a:solidFill>
                <a:latin typeface="Times New Roman"/>
                <a:ea typeface="Times New Roman"/>
                <a:cs typeface="Times New Roman"/>
                <a:sym typeface="Times New Roman"/>
              </a:rPr>
              <a:t>Gestión de participación: Unirse y confirmar asistencia</a:t>
            </a:r>
            <a:endParaRPr sz="1100">
              <a:solidFill>
                <a:schemeClr val="lt1"/>
              </a:solidFill>
              <a:latin typeface="Times New Roman"/>
              <a:ea typeface="Times New Roman"/>
              <a:cs typeface="Times New Roman"/>
              <a:sym typeface="Times New Roman"/>
            </a:endParaRPr>
          </a:p>
          <a:p>
            <a:pPr indent="-298450" lvl="0" marL="457200" rtl="0" algn="l">
              <a:lnSpc>
                <a:spcPct val="115000"/>
              </a:lnSpc>
              <a:spcBef>
                <a:spcPts val="0"/>
              </a:spcBef>
              <a:spcAft>
                <a:spcPts val="0"/>
              </a:spcAft>
              <a:buClr>
                <a:schemeClr val="lt1"/>
              </a:buClr>
              <a:buSzPts val="1100"/>
              <a:buChar char="●"/>
            </a:pPr>
            <a:r>
              <a:rPr lang="es" sz="1100">
                <a:solidFill>
                  <a:schemeClr val="lt1"/>
                </a:solidFill>
                <a:latin typeface="Times New Roman"/>
                <a:ea typeface="Times New Roman"/>
                <a:cs typeface="Times New Roman"/>
                <a:sym typeface="Times New Roman"/>
              </a:rPr>
              <a:t>Sistema de Reputación: Valoraciones obligatorias para mantener la calidad.</a:t>
            </a:r>
            <a:endParaRPr sz="1200">
              <a:solidFill>
                <a:schemeClr val="lt1"/>
              </a:solidFill>
              <a:latin typeface="Times New Roman"/>
              <a:ea typeface="Times New Roman"/>
              <a:cs typeface="Times New Roman"/>
              <a:sym typeface="Times New Roman"/>
            </a:endParaRPr>
          </a:p>
        </p:txBody>
      </p:sp>
      <p:sp>
        <p:nvSpPr>
          <p:cNvPr id="142" name="Google Shape;142;p26"/>
          <p:cNvSpPr/>
          <p:nvPr/>
        </p:nvSpPr>
        <p:spPr>
          <a:xfrm>
            <a:off x="4119450" y="2733150"/>
            <a:ext cx="4145100" cy="1117200"/>
          </a:xfrm>
          <a:prstGeom prst="roundRect">
            <a:avLst>
              <a:gd fmla="val 16667" name="adj"/>
            </a:avLst>
          </a:prstGeom>
          <a:solidFill>
            <a:srgbClr val="249C91"/>
          </a:solidFill>
          <a:ln cap="flat" cmpd="sng" w="9525">
            <a:solidFill>
              <a:srgbClr val="249C91"/>
            </a:solidFill>
            <a:prstDash val="solid"/>
            <a:round/>
            <a:headEnd len="sm" w="sm" type="none"/>
            <a:tailEnd len="sm" w="sm" type="none"/>
          </a:ln>
        </p:spPr>
        <p:txBody>
          <a:bodyPr anchorCtr="0" anchor="ctr" bIns="91425" lIns="91425" spcFirstLastPara="1" rIns="91425" wrap="square" tIns="91425">
            <a:noAutofit/>
          </a:bodyPr>
          <a:lstStyle/>
          <a:p>
            <a:pPr indent="-298450" lvl="0" marL="457200" rtl="0" algn="l">
              <a:spcBef>
                <a:spcPts val="0"/>
              </a:spcBef>
              <a:spcAft>
                <a:spcPts val="0"/>
              </a:spcAft>
              <a:buClr>
                <a:srgbClr val="FFFFFF"/>
              </a:buClr>
              <a:buSzPts val="1100"/>
              <a:buFont typeface="Times New Roman"/>
              <a:buChar char="●"/>
            </a:pPr>
            <a:r>
              <a:rPr lang="es" sz="1100">
                <a:solidFill>
                  <a:srgbClr val="FFFFFF"/>
                </a:solidFill>
                <a:latin typeface="Times New Roman"/>
                <a:ea typeface="Times New Roman"/>
                <a:cs typeface="Times New Roman"/>
                <a:sym typeface="Times New Roman"/>
              </a:rPr>
              <a:t>Chat interno para coordinar detalles.</a:t>
            </a:r>
            <a:endParaRPr sz="1100">
              <a:solidFill>
                <a:srgbClr val="FFFFFF"/>
              </a:solidFill>
              <a:latin typeface="Times New Roman"/>
              <a:ea typeface="Times New Roman"/>
              <a:cs typeface="Times New Roman"/>
              <a:sym typeface="Times New Roman"/>
            </a:endParaRPr>
          </a:p>
          <a:p>
            <a:pPr indent="-298450" lvl="0" marL="457200" rtl="0" algn="l">
              <a:spcBef>
                <a:spcPts val="0"/>
              </a:spcBef>
              <a:spcAft>
                <a:spcPts val="0"/>
              </a:spcAft>
              <a:buClr>
                <a:srgbClr val="FFFFFF"/>
              </a:buClr>
              <a:buSzPts val="1100"/>
              <a:buFont typeface="Times New Roman"/>
              <a:buChar char="●"/>
            </a:pPr>
            <a:r>
              <a:rPr lang="es" sz="1100">
                <a:solidFill>
                  <a:srgbClr val="FFFFFF"/>
                </a:solidFill>
                <a:latin typeface="Times New Roman"/>
                <a:ea typeface="Times New Roman"/>
                <a:cs typeface="Times New Roman"/>
                <a:sym typeface="Times New Roman"/>
              </a:rPr>
              <a:t>Notificaciones Push para cambios de última hora.</a:t>
            </a:r>
            <a:endParaRPr sz="1100">
              <a:solidFill>
                <a:srgbClr val="FFFFFF"/>
              </a:solidFill>
              <a:latin typeface="Times New Roman"/>
              <a:ea typeface="Times New Roman"/>
              <a:cs typeface="Times New Roman"/>
              <a:sym typeface="Times New Roman"/>
            </a:endParaRPr>
          </a:p>
          <a:p>
            <a:pPr indent="-298450" lvl="0" marL="457200" rtl="0" algn="l">
              <a:spcBef>
                <a:spcPts val="0"/>
              </a:spcBef>
              <a:spcAft>
                <a:spcPts val="0"/>
              </a:spcAft>
              <a:buClr>
                <a:srgbClr val="FFFFFF"/>
              </a:buClr>
              <a:buSzPts val="1100"/>
              <a:buFont typeface="Times New Roman"/>
              <a:buChar char="●"/>
            </a:pPr>
            <a:r>
              <a:rPr lang="es" sz="1100">
                <a:solidFill>
                  <a:srgbClr val="FFFFFF"/>
                </a:solidFill>
                <a:latin typeface="Times New Roman"/>
                <a:ea typeface="Times New Roman"/>
                <a:cs typeface="Times New Roman"/>
                <a:sym typeface="Times New Roman"/>
              </a:rPr>
              <a:t>Perfil de usuario con historial de actividades realizadas</a:t>
            </a:r>
            <a:endParaRPr sz="1100">
              <a:solidFill>
                <a:srgbClr val="FFFFFF"/>
              </a:solidFill>
              <a:latin typeface="Times New Roman"/>
              <a:ea typeface="Times New Roman"/>
              <a:cs typeface="Times New Roman"/>
              <a:sym typeface="Times New Roman"/>
            </a:endParaRPr>
          </a:p>
        </p:txBody>
      </p:sp>
      <p:cxnSp>
        <p:nvCxnSpPr>
          <p:cNvPr id="143" name="Google Shape;143;p26"/>
          <p:cNvCxnSpPr>
            <a:stCxn id="139" idx="3"/>
            <a:endCxn id="141" idx="1"/>
          </p:cNvCxnSpPr>
          <p:nvPr/>
        </p:nvCxnSpPr>
        <p:spPr>
          <a:xfrm>
            <a:off x="2816700" y="1851749"/>
            <a:ext cx="1253400" cy="600"/>
          </a:xfrm>
          <a:prstGeom prst="bentConnector3">
            <a:avLst>
              <a:gd fmla="val 50000" name="adj1"/>
            </a:avLst>
          </a:prstGeom>
          <a:noFill/>
          <a:ln cap="flat" cmpd="sng" w="9525">
            <a:solidFill>
              <a:srgbClr val="C2C2C2"/>
            </a:solidFill>
            <a:prstDash val="solid"/>
            <a:round/>
            <a:headEnd len="sm" w="sm" type="none"/>
            <a:tailEnd len="sm" w="sm" type="none"/>
          </a:ln>
        </p:spPr>
      </p:cxnSp>
      <p:cxnSp>
        <p:nvCxnSpPr>
          <p:cNvPr id="144" name="Google Shape;144;p26"/>
          <p:cNvCxnSpPr>
            <a:stCxn id="142" idx="1"/>
            <a:endCxn id="140" idx="3"/>
          </p:cNvCxnSpPr>
          <p:nvPr/>
        </p:nvCxnSpPr>
        <p:spPr>
          <a:xfrm flipH="1">
            <a:off x="2849550" y="3291750"/>
            <a:ext cx="1269900" cy="600"/>
          </a:xfrm>
          <a:prstGeom prst="bentConnector3">
            <a:avLst>
              <a:gd fmla="val 50000" name="adj1"/>
            </a:avLst>
          </a:prstGeom>
          <a:noFill/>
          <a:ln cap="flat" cmpd="sng" w="9525">
            <a:solidFill>
              <a:srgbClr val="C2C2C2"/>
            </a:solidFill>
            <a:prstDash val="solid"/>
            <a:round/>
            <a:headEnd len="sm" w="sm" type="none"/>
            <a:tailEnd len="sm" w="sm" type="none"/>
          </a:ln>
        </p:spPr>
      </p:cxnSp>
      <p:sp>
        <p:nvSpPr>
          <p:cNvPr id="145" name="Google Shape;145;p26"/>
          <p:cNvSpPr/>
          <p:nvPr/>
        </p:nvSpPr>
        <p:spPr>
          <a:xfrm>
            <a:off x="829050" y="4289092"/>
            <a:ext cx="2020500" cy="525300"/>
          </a:xfrm>
          <a:prstGeom prst="roundRect">
            <a:avLst>
              <a:gd fmla="val 0" name="adj"/>
            </a:avLst>
          </a:prstGeom>
          <a:solidFill>
            <a:srgbClr val="1D7E75"/>
          </a:solidFill>
          <a:ln cap="flat" cmpd="sng" w="9525">
            <a:solidFill>
              <a:srgbClr val="1D7E75"/>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s" sz="1600">
                <a:solidFill>
                  <a:srgbClr val="FFFFFF"/>
                </a:solidFill>
                <a:latin typeface="Times New Roman"/>
                <a:ea typeface="Times New Roman"/>
                <a:cs typeface="Times New Roman"/>
                <a:sym typeface="Times New Roman"/>
              </a:rPr>
              <a:t>Opcionales</a:t>
            </a:r>
            <a:endParaRPr b="1" sz="1600">
              <a:solidFill>
                <a:srgbClr val="FFFFFF"/>
              </a:solidFill>
              <a:latin typeface="Times New Roman"/>
              <a:ea typeface="Times New Roman"/>
              <a:cs typeface="Times New Roman"/>
              <a:sym typeface="Times New Roman"/>
            </a:endParaRPr>
          </a:p>
        </p:txBody>
      </p:sp>
      <p:sp>
        <p:nvSpPr>
          <p:cNvPr id="146" name="Google Shape;146;p26"/>
          <p:cNvSpPr/>
          <p:nvPr/>
        </p:nvSpPr>
        <p:spPr>
          <a:xfrm>
            <a:off x="4119450" y="4064250"/>
            <a:ext cx="4145100" cy="975000"/>
          </a:xfrm>
          <a:prstGeom prst="roundRect">
            <a:avLst>
              <a:gd fmla="val 16667" name="adj"/>
            </a:avLst>
          </a:prstGeom>
          <a:solidFill>
            <a:srgbClr val="249C91"/>
          </a:solidFill>
          <a:ln cap="flat" cmpd="sng" w="9525">
            <a:solidFill>
              <a:srgbClr val="249C91"/>
            </a:solidFill>
            <a:prstDash val="solid"/>
            <a:round/>
            <a:headEnd len="sm" w="sm" type="none"/>
            <a:tailEnd len="sm" w="sm" type="none"/>
          </a:ln>
        </p:spPr>
        <p:txBody>
          <a:bodyPr anchorCtr="0" anchor="ctr" bIns="91425" lIns="91425" spcFirstLastPara="1" rIns="91425" wrap="square" tIns="91425">
            <a:noAutofit/>
          </a:bodyPr>
          <a:lstStyle/>
          <a:p>
            <a:pPr indent="-298450" lvl="0" marL="457200" rtl="0" algn="l">
              <a:spcBef>
                <a:spcPts val="0"/>
              </a:spcBef>
              <a:spcAft>
                <a:spcPts val="0"/>
              </a:spcAft>
              <a:buClr>
                <a:srgbClr val="FFFFFF"/>
              </a:buClr>
              <a:buSzPts val="1100"/>
              <a:buFont typeface="Times New Roman"/>
              <a:buChar char="●"/>
            </a:pPr>
            <a:r>
              <a:rPr lang="es" sz="1100">
                <a:solidFill>
                  <a:srgbClr val="FFFFFF"/>
                </a:solidFill>
                <a:latin typeface="Times New Roman"/>
                <a:ea typeface="Times New Roman"/>
                <a:cs typeface="Times New Roman"/>
                <a:sym typeface="Times New Roman"/>
              </a:rPr>
              <a:t>Gamificación: Logros e insignias</a:t>
            </a:r>
            <a:endParaRPr sz="1100">
              <a:solidFill>
                <a:srgbClr val="FFFFFF"/>
              </a:solidFill>
              <a:latin typeface="Times New Roman"/>
              <a:ea typeface="Times New Roman"/>
              <a:cs typeface="Times New Roman"/>
              <a:sym typeface="Times New Roman"/>
            </a:endParaRPr>
          </a:p>
          <a:p>
            <a:pPr indent="-298450" lvl="0" marL="457200" rtl="0" algn="l">
              <a:spcBef>
                <a:spcPts val="0"/>
              </a:spcBef>
              <a:spcAft>
                <a:spcPts val="0"/>
              </a:spcAft>
              <a:buClr>
                <a:srgbClr val="FFFFFF"/>
              </a:buClr>
              <a:buSzPts val="1100"/>
              <a:buFont typeface="Times New Roman"/>
              <a:buChar char="●"/>
            </a:pPr>
            <a:r>
              <a:rPr lang="es" sz="1100">
                <a:solidFill>
                  <a:srgbClr val="FFFFFF"/>
                </a:solidFill>
                <a:latin typeface="Times New Roman"/>
                <a:ea typeface="Times New Roman"/>
                <a:cs typeface="Times New Roman"/>
                <a:sym typeface="Times New Roman"/>
              </a:rPr>
              <a:t>Recomendaciones inteligentes basadas en tus gustos.</a:t>
            </a:r>
            <a:endParaRPr sz="1100">
              <a:solidFill>
                <a:srgbClr val="FFFFFF"/>
              </a:solidFill>
              <a:latin typeface="Times New Roman"/>
              <a:ea typeface="Times New Roman"/>
              <a:cs typeface="Times New Roman"/>
              <a:sym typeface="Times New Roman"/>
            </a:endParaRPr>
          </a:p>
        </p:txBody>
      </p:sp>
      <p:cxnSp>
        <p:nvCxnSpPr>
          <p:cNvPr id="147" name="Google Shape;147;p26"/>
          <p:cNvCxnSpPr>
            <a:stCxn id="146" idx="1"/>
            <a:endCxn id="145" idx="3"/>
          </p:cNvCxnSpPr>
          <p:nvPr/>
        </p:nvCxnSpPr>
        <p:spPr>
          <a:xfrm flipH="1">
            <a:off x="2849550" y="4551750"/>
            <a:ext cx="1269900" cy="600"/>
          </a:xfrm>
          <a:prstGeom prst="bentConnector3">
            <a:avLst>
              <a:gd fmla="val 49999" name="adj1"/>
            </a:avLst>
          </a:prstGeom>
          <a:noFill/>
          <a:ln cap="flat" cmpd="sng" w="9525">
            <a:solidFill>
              <a:srgbClr val="C2C2C2"/>
            </a:solidFill>
            <a:prstDash val="solid"/>
            <a:round/>
            <a:headEnd len="sm" w="sm" type="none"/>
            <a:tailEnd len="sm" w="sm"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1" name="Shape 151"/>
        <p:cNvGrpSpPr/>
        <p:nvPr/>
      </p:nvGrpSpPr>
      <p:grpSpPr>
        <a:xfrm>
          <a:off x="0" y="0"/>
          <a:ext cx="0" cy="0"/>
          <a:chOff x="0" y="0"/>
          <a:chExt cx="0" cy="0"/>
        </a:xfrm>
      </p:grpSpPr>
      <p:sp>
        <p:nvSpPr>
          <p:cNvPr id="152" name="Google Shape;152;p27"/>
          <p:cNvSpPr txBox="1"/>
          <p:nvPr>
            <p:ph type="title"/>
          </p:nvPr>
        </p:nvSpPr>
        <p:spPr>
          <a:xfrm>
            <a:off x="311700" y="845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s">
                <a:latin typeface="Times New Roman"/>
                <a:ea typeface="Times New Roman"/>
                <a:cs typeface="Times New Roman"/>
                <a:sym typeface="Times New Roman"/>
              </a:rPr>
              <a:t>Diagrama de Casos de Uso</a:t>
            </a:r>
            <a:endParaRPr b="1">
              <a:latin typeface="Times New Roman"/>
              <a:ea typeface="Times New Roman"/>
              <a:cs typeface="Times New Roman"/>
              <a:sym typeface="Times New Roman"/>
            </a:endParaRPr>
          </a:p>
        </p:txBody>
      </p:sp>
      <p:pic>
        <p:nvPicPr>
          <p:cNvPr id="153" name="Google Shape;153;p27"/>
          <p:cNvPicPr preferRelativeResize="0"/>
          <p:nvPr/>
        </p:nvPicPr>
        <p:blipFill>
          <a:blip r:embed="rId4">
            <a:alphaModFix/>
          </a:blip>
          <a:stretch>
            <a:fillRect/>
          </a:stretch>
        </p:blipFill>
        <p:spPr>
          <a:xfrm>
            <a:off x="311700" y="1418100"/>
            <a:ext cx="4777740" cy="3413760"/>
          </a:xfrm>
          <a:prstGeom prst="rect">
            <a:avLst/>
          </a:prstGeom>
          <a:noFill/>
          <a:ln cap="flat" cmpd="sng" w="12700">
            <a:solidFill>
              <a:srgbClr val="000000"/>
            </a:solidFill>
            <a:prstDash val="solid"/>
            <a:miter lim="8000"/>
            <a:headEnd len="sm" w="sm" type="none"/>
            <a:tailEnd len="sm" w="sm" type="none"/>
          </a:ln>
        </p:spPr>
      </p:pic>
      <p:pic>
        <p:nvPicPr>
          <p:cNvPr id="154" name="Google Shape;154;p27"/>
          <p:cNvPicPr preferRelativeResize="0"/>
          <p:nvPr/>
        </p:nvPicPr>
        <p:blipFill>
          <a:blip r:embed="rId5">
            <a:alphaModFix/>
          </a:blip>
          <a:stretch>
            <a:fillRect/>
          </a:stretch>
        </p:blipFill>
        <p:spPr>
          <a:xfrm>
            <a:off x="5935815" y="1978700"/>
            <a:ext cx="360000" cy="360000"/>
          </a:xfrm>
          <a:prstGeom prst="rect">
            <a:avLst/>
          </a:prstGeom>
          <a:noFill/>
          <a:ln>
            <a:noFill/>
          </a:ln>
        </p:spPr>
      </p:pic>
      <p:sp>
        <p:nvSpPr>
          <p:cNvPr id="155" name="Google Shape;155;p27"/>
          <p:cNvSpPr txBox="1"/>
          <p:nvPr/>
        </p:nvSpPr>
        <p:spPr>
          <a:xfrm>
            <a:off x="5799750" y="1272800"/>
            <a:ext cx="2803800" cy="51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700">
                <a:solidFill>
                  <a:schemeClr val="dk2"/>
                </a:solidFill>
                <a:latin typeface="Times New Roman"/>
                <a:ea typeface="Times New Roman"/>
                <a:cs typeface="Times New Roman"/>
                <a:sym typeface="Times New Roman"/>
              </a:rPr>
              <a:t>Requisitos y dependencias</a:t>
            </a:r>
            <a:endParaRPr b="1" sz="1700">
              <a:solidFill>
                <a:schemeClr val="dk2"/>
              </a:solidFill>
              <a:latin typeface="Times New Roman"/>
              <a:ea typeface="Times New Roman"/>
              <a:cs typeface="Times New Roman"/>
              <a:sym typeface="Times New Roman"/>
            </a:endParaRPr>
          </a:p>
        </p:txBody>
      </p:sp>
      <p:pic>
        <p:nvPicPr>
          <p:cNvPr id="156" name="Google Shape;156;p27"/>
          <p:cNvPicPr preferRelativeResize="0"/>
          <p:nvPr/>
        </p:nvPicPr>
        <p:blipFill>
          <a:blip r:embed="rId6">
            <a:alphaModFix/>
          </a:blip>
          <a:stretch>
            <a:fillRect/>
          </a:stretch>
        </p:blipFill>
        <p:spPr>
          <a:xfrm>
            <a:off x="5935815" y="2571750"/>
            <a:ext cx="360000" cy="360000"/>
          </a:xfrm>
          <a:prstGeom prst="rect">
            <a:avLst/>
          </a:prstGeom>
          <a:noFill/>
          <a:ln>
            <a:noFill/>
          </a:ln>
        </p:spPr>
      </p:pic>
      <p:pic>
        <p:nvPicPr>
          <p:cNvPr id="157" name="Google Shape;157;p27"/>
          <p:cNvPicPr preferRelativeResize="0"/>
          <p:nvPr/>
        </p:nvPicPr>
        <p:blipFill>
          <a:blip r:embed="rId7">
            <a:alphaModFix/>
          </a:blip>
          <a:stretch>
            <a:fillRect/>
          </a:stretch>
        </p:blipFill>
        <p:spPr>
          <a:xfrm>
            <a:off x="5935815" y="3164800"/>
            <a:ext cx="360000" cy="360000"/>
          </a:xfrm>
          <a:prstGeom prst="rect">
            <a:avLst/>
          </a:prstGeom>
          <a:noFill/>
          <a:ln>
            <a:noFill/>
          </a:ln>
        </p:spPr>
      </p:pic>
      <p:pic>
        <p:nvPicPr>
          <p:cNvPr id="158" name="Google Shape;158;p27"/>
          <p:cNvPicPr preferRelativeResize="0"/>
          <p:nvPr/>
        </p:nvPicPr>
        <p:blipFill>
          <a:blip r:embed="rId8">
            <a:alphaModFix/>
          </a:blip>
          <a:stretch>
            <a:fillRect/>
          </a:stretch>
        </p:blipFill>
        <p:spPr>
          <a:xfrm>
            <a:off x="5935815" y="3757850"/>
            <a:ext cx="360000" cy="360000"/>
          </a:xfrm>
          <a:prstGeom prst="rect">
            <a:avLst/>
          </a:prstGeom>
          <a:noFill/>
          <a:ln>
            <a:noFill/>
          </a:ln>
        </p:spPr>
      </p:pic>
      <p:sp>
        <p:nvSpPr>
          <p:cNvPr id="159" name="Google Shape;159;p27"/>
          <p:cNvSpPr txBox="1"/>
          <p:nvPr/>
        </p:nvSpPr>
        <p:spPr>
          <a:xfrm>
            <a:off x="6449775" y="2544000"/>
            <a:ext cx="1800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500">
                <a:latin typeface="Times New Roman"/>
                <a:ea typeface="Times New Roman"/>
                <a:cs typeface="Times New Roman"/>
                <a:sym typeface="Times New Roman"/>
              </a:rPr>
              <a:t>Geolocalización</a:t>
            </a:r>
            <a:endParaRPr b="1" sz="1500">
              <a:latin typeface="Times New Roman"/>
              <a:ea typeface="Times New Roman"/>
              <a:cs typeface="Times New Roman"/>
              <a:sym typeface="Times New Roman"/>
            </a:endParaRPr>
          </a:p>
        </p:txBody>
      </p:sp>
      <p:sp>
        <p:nvSpPr>
          <p:cNvPr id="160" name="Google Shape;160;p27"/>
          <p:cNvSpPr txBox="1"/>
          <p:nvPr/>
        </p:nvSpPr>
        <p:spPr>
          <a:xfrm>
            <a:off x="6451200" y="1958350"/>
            <a:ext cx="1800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500">
                <a:latin typeface="Times New Roman"/>
                <a:ea typeface="Times New Roman"/>
                <a:cs typeface="Times New Roman"/>
                <a:sym typeface="Times New Roman"/>
              </a:rPr>
              <a:t>Multiplataforma</a:t>
            </a:r>
            <a:endParaRPr b="1" sz="1500">
              <a:latin typeface="Times New Roman"/>
              <a:ea typeface="Times New Roman"/>
              <a:cs typeface="Times New Roman"/>
              <a:sym typeface="Times New Roman"/>
            </a:endParaRPr>
          </a:p>
        </p:txBody>
      </p:sp>
      <p:sp>
        <p:nvSpPr>
          <p:cNvPr id="161" name="Google Shape;161;p27"/>
          <p:cNvSpPr txBox="1"/>
          <p:nvPr/>
        </p:nvSpPr>
        <p:spPr>
          <a:xfrm>
            <a:off x="6449775" y="3129650"/>
            <a:ext cx="1800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500">
                <a:latin typeface="Times New Roman"/>
                <a:ea typeface="Times New Roman"/>
                <a:cs typeface="Times New Roman"/>
                <a:sym typeface="Times New Roman"/>
              </a:rPr>
              <a:t>Accesibilidad</a:t>
            </a:r>
            <a:endParaRPr b="1" sz="1500">
              <a:latin typeface="Times New Roman"/>
              <a:ea typeface="Times New Roman"/>
              <a:cs typeface="Times New Roman"/>
              <a:sym typeface="Times New Roman"/>
            </a:endParaRPr>
          </a:p>
        </p:txBody>
      </p:sp>
      <p:sp>
        <p:nvSpPr>
          <p:cNvPr id="162" name="Google Shape;162;p27"/>
          <p:cNvSpPr txBox="1"/>
          <p:nvPr/>
        </p:nvSpPr>
        <p:spPr>
          <a:xfrm>
            <a:off x="6451200" y="3715293"/>
            <a:ext cx="18000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s" sz="1500">
                <a:latin typeface="Times New Roman"/>
                <a:ea typeface="Times New Roman"/>
                <a:cs typeface="Times New Roman"/>
                <a:sym typeface="Times New Roman"/>
              </a:rPr>
              <a:t>Escalabilidad</a:t>
            </a:r>
            <a:endParaRPr b="1" sz="1500">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